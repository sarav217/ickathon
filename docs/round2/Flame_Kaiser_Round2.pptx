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  <Relationship Id="rId13" Type="http://schemas.openxmlformats.org/officeDocument/2006/relationships/slide" Target="slides/slide7.xml"/>
  <Relationship Id="rId14" Type="http://schemas.openxmlformats.org/officeDocument/2006/relationships/slide" Target="slides/slide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5988D-7413-4244-8857-280088FCC765}" type="datetimeFigureOut"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C25A2A-7763-4FAB-A895-6FF712CCC0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6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566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5200" dirty="0">
                <a:solidFill>
                  <a:srgbClr val="680078"/>
                </a:solidFill>
                <a:latin typeface="Caveat Brush" pitchFamily="34" charset="0"/>
                <a:ea typeface="Caveat Brush" pitchFamily="34" charset="-122"/>
                <a:cs typeface="Caveat Brush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5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74800"/>
            <a:ext cx="10566400" cy="447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1413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566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5200" dirty="0">
                <a:solidFill>
                  <a:srgbClr val="680078"/>
                </a:solidFill>
                <a:latin typeface="Caveat Brush" pitchFamily="34" charset="0"/>
                <a:ea typeface="Caveat Brush" pitchFamily="34" charset="-122"/>
                <a:cs typeface="Caveat Brush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5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74800"/>
            <a:ext cx="10566400" cy="447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1413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png" 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png" 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png" 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png" /><Relationship Id="rId24" Type="http://schemas.openxmlformats.org/officeDocument/2006/relationships/image" Target="../media/shot_5_24.png"/><Relationship Id="rId25" Type="http://schemas.openxmlformats.org/officeDocument/2006/relationships/image" Target="../media/shot_5_25.png"/><Relationship Id="rId26" Type="http://schemas.openxmlformats.org/officeDocument/2006/relationships/image" Target="../media/shot_5_26.png"/><Relationship Id="rId27" Type="http://schemas.openxmlformats.org/officeDocument/2006/relationships/image" Target="../media/shot_5_27.png"/><Relationship Id="rId28" Type="http://schemas.openxmlformats.org/officeDocument/2006/relationships/image" Target="../media/shot_5_28.png"/><Relationship Id="rId29" Type="http://schemas.openxmlformats.org/officeDocument/2006/relationships/image" Target="../media/shot_5_29.pn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png" /><Relationship Id="rId23" Type="http://schemas.openxmlformats.org/officeDocument/2006/relationships/image" Target="../media/shot_7_23.png"/><Relationship Id="rId24" Type="http://schemas.openxmlformats.org/officeDocument/2006/relationships/image" Target="../media/shot_7_24.png"/><Relationship Id="rId25" Type="http://schemas.openxmlformats.org/officeDocument/2006/relationships/image" Target="../media/shot_7_25.png"/><Relationship Id="rId26" Type="http://schemas.openxmlformats.org/officeDocument/2006/relationships/image" Target="../media/shot_7_26.png"/><Relationship Id="rId27" Type="http://schemas.openxmlformats.org/officeDocument/2006/relationships/image" Target="../media/shot_7_27.png"/><Relationship Id="rId28" Type="http://schemas.openxmlformats.org/officeDocument/2006/relationships/image" Target="../media/shot_7_28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00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scribbles and torn pap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812800" y="1939290"/>
            <a:ext cx="72644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>
              <a:lnSpc>
                <a:spcPts val="10000"/>
              </a:lnSpc>
            </a:pPr>
            <a:r>
              <a:rPr lang="en-US" sz="10000">
                <a:solidFill>
                  <a:srgbClr val="FBFADB"/>
                </a:solidFill>
                <a:latin typeface="Caveat Brush"/>
                <a:ea typeface="Caveat Brush" pitchFamily="18" charset="-122"/>
                <a:cs typeface="Caveat Brush" pitchFamily="18" charset="-120"/>
              </a:rPr>
              <a:t>Ick-a-thon</a:t>
            </a:r>
            <a:r>
              <a:rPr lang="en-US" sz="10000" b="0" i="0" dirty="0">
                <a:solidFill>
                  <a:srgbClr val="FBFADB"/>
                </a:solidFill>
                <a:latin typeface="Caveat Brush"/>
                <a:ea typeface="Caveat Brush" pitchFamily="18" charset="-122"/>
                <a:cs typeface="Caveat Brush" pitchFamily="18" charset="-120"/>
              </a:rPr>
              <a:t> </a:t>
            </a:r>
            <a:r>
              <a:rPr lang="en-US" sz="10000" b="0" i="0" dirty="0">
                <a:solidFill>
                  <a:srgbClr val="D2B8CC"/>
                </a:solidFill>
                <a:latin typeface="Caveat Brush"/>
                <a:ea typeface="Caveat Brush" pitchFamily="18" charset="-122"/>
                <a:cs typeface="Caveat Brush" pitchFamily="18" charset="-120"/>
              </a:rPr>
              <a:t>2026</a:t>
            </a:r>
            <a:endParaRPr lang="en-US" sz="10000" dirty="0">
              <a:latin typeface="Caveat Brush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12800" y="3430632"/>
            <a:ext cx="6799942" cy="3094083"/>
          </a:xfrm>
          <a:prstGeom prst="roundRect">
            <a:avLst>
              <a:gd name="adj" fmla="val 8631"/>
            </a:avLst>
          </a:prstGeom>
          <a:solidFill>
            <a:srgbClr val="FBFADB"/>
          </a:solidFill>
          <a:ln/>
        </p:spPr>
      </p:sp>
      <p:sp>
        <p:nvSpPr>
          <p:cNvPr id="6" name="Text 3"/>
          <p:cNvSpPr/>
          <p:nvPr/>
        </p:nvSpPr>
        <p:spPr>
          <a:xfrm>
            <a:off x="1219200" y="3666490"/>
            <a:ext cx="366268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4B005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/>
            </a:r>
            <a:endParaRPr lang="en-US" sz="2200" dirty="0"/>
          </a:p>
        </p:txBody>
      </p:sp>
      <p:pic>
        <p:nvPicPr>
          <p:cNvPr id="7" name="Image 1" descr="lin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flipV="1">
            <a:off x="1191986" y="4224528"/>
            <a:ext cx="6041572" cy="172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19200" y="4274820"/>
            <a:ext cx="366268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4B005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/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1219200" y="4883150"/>
            <a:ext cx="366268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4B005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/>
            </a:r>
            <a:endParaRPr lang="en-US" sz="2200" dirty="0"/>
          </a:p>
        </p:txBody>
      </p:sp>
      <p:pic>
        <p:nvPicPr>
          <p:cNvPr id="11" name="Image 3" descr="IEEE Women in Engineering logo"/>
          <p:cNvPicPr>
            <a:picLocks noChangeAspect="1"/>
          </p:cNvPicPr>
          <p:nvPr/>
        </p:nvPicPr>
        <p:blipFill>
          <a:blip r:embed="rId5"/>
          <a:srcRect t="-27" b="-27"/>
          <a:stretch/>
        </p:blipFill>
        <p:spPr>
          <a:xfrm>
            <a:off x="8077200" y="2084754"/>
            <a:ext cx="3302000" cy="3149600"/>
          </a:xfrm>
          <a:prstGeom prst="rect">
            <a:avLst/>
          </a:prstGeom>
        </p:spPr>
      </p:pic>
      <p:pic>
        <p:nvPicPr>
          <p:cNvPr id="12" name="Image 4" descr="SSN logo"/>
          <p:cNvPicPr>
            <a:picLocks noChangeAspect="1"/>
          </p:cNvPicPr>
          <p:nvPr/>
        </p:nvPicPr>
        <p:blipFill>
          <a:blip r:embed="rId6"/>
          <a:srcRect l="-49" r="-49"/>
          <a:stretch/>
        </p:blipFill>
        <p:spPr>
          <a:xfrm>
            <a:off x="10011229" y="861716"/>
            <a:ext cx="1371600" cy="635000"/>
          </a:xfrm>
          <a:prstGeom prst="rect">
            <a:avLst/>
          </a:prstGeom>
        </p:spPr>
      </p:pic>
      <p:pic>
        <p:nvPicPr>
          <p:cNvPr id="14" name="Image 1" descr="line">
            <a:extLst>
              <a:ext uri="{FF2B5EF4-FFF2-40B4-BE49-F238E27FC236}">
                <a16:creationId xmlns:a16="http://schemas.microsoft.com/office/drawing/2014/main" id="{093A2CED-CA76-A061-3A6F-D3229A06E5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flipV="1">
            <a:off x="1191985" y="4910328"/>
            <a:ext cx="6041572" cy="172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C78B58-75C5-A02F-275E-7165A3357F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098" y="777909"/>
            <a:ext cx="2041038" cy="725350"/>
          </a:xfrm>
          <a:prstGeom prst="rect">
            <a:avLst/>
          </a:prstGeom>
        </p:spPr>
      </p:pic>
      <p:sp>
        <p:nvSpPr>
          <p:cNvPr id="201" name="Text 201"/>
          <p:cNvSpPr txBox="1"/>
          <p:nvPr/>
        </p:nvSpPr>
        <p:spPr>
          <a:xfrm>
            <a:off x="1192378" y="3529584"/>
            <a:ext cx="603504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lang="en-US" sz="1900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Problem Statement Title - </a:t>
            </a:r>
            <a:r>
              <a:rPr lang="en-US" sz="1900" b="1" dirty="0">
                <a:solidFill>
                  <a:srgbClr val="4B0058"/>
                </a:solidFill>
                <a:latin typeface="Patrick Hand"/>
                <a:ea typeface="Patrick Hand"/>
                <a:cs typeface="Patrick Hand"/>
              </a:rPr>
              <a:t>Doomscrolling steals youth's free time, with no easy way out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1192378" y="4379976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lang="en-US" sz="1900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Team Name - </a:t>
            </a:r>
            <a:r>
              <a:rPr lang="en-US" sz="1900" b="1" dirty="0">
                <a:solidFill>
                  <a:srgbClr val="4B0058"/>
                </a:solidFill>
                <a:latin typeface="Patrick Hand"/>
                <a:ea typeface="Patrick Hand"/>
                <a:cs typeface="Patrick Hand"/>
              </a:rPr>
              <a:t>Flame Kaiser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1192378" y="5010912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buNone/>
            </a:pPr>
            <a:r>
              <a:rPr lang="en-US" sz="1900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Team Member Details -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1192378" y="535838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600" b="1" dirty="0">
                <a:solidFill>
                  <a:srgbClr val="4B0058"/>
                </a:solidFill>
                <a:latin typeface="Patrick Hand"/>
                <a:ea typeface="Patrick Hand"/>
                <a:cs typeface="Patrick Hand"/>
              </a:rPr>
              <a:t xml:space="preserve">Dhesh Sarvajith R </a:t>
            </a:r>
            <a:r>
              <a:rPr lang="en-US" sz="1300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(IT, 2nd year)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3889858" y="5358384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600" b="1" dirty="0">
                <a:solidFill>
                  <a:srgbClr val="4B0058"/>
                </a:solidFill>
                <a:latin typeface="Patrick Hand"/>
                <a:ea typeface="Patrick Hand"/>
                <a:cs typeface="Patrick Hand"/>
              </a:rPr>
              <a:t xml:space="preserve">Anirudh Badri Narayanan </a:t>
            </a:r>
            <a:r>
              <a:rPr lang="en-US" sz="1300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(IT, 2nd year)</a:t>
            </a:r>
          </a:p>
        </p:txBody>
      </p:sp>
      <p:sp>
        <p:nvSpPr>
          <p:cNvPr id="206" name="Text 206"/>
          <p:cNvSpPr txBox="1"/>
          <p:nvPr/>
        </p:nvSpPr>
        <p:spPr>
          <a:xfrm>
            <a:off x="1192378" y="563270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600" b="1" dirty="0">
                <a:solidFill>
                  <a:srgbClr val="4B0058"/>
                </a:solidFill>
                <a:latin typeface="Patrick Hand"/>
                <a:ea typeface="Patrick Hand"/>
                <a:cs typeface="Patrick Hand"/>
              </a:rPr>
              <a:t xml:space="preserve">Krrish P </a:t>
            </a:r>
            <a:r>
              <a:rPr lang="en-US" sz="1300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(CSE, 2nd year)</a:t>
            </a:r>
          </a:p>
        </p:txBody>
      </p:sp>
      <p:sp>
        <p:nvSpPr>
          <p:cNvPr id="207" name="Text 207"/>
          <p:cNvSpPr txBox="1"/>
          <p:nvPr/>
        </p:nvSpPr>
        <p:spPr>
          <a:xfrm>
            <a:off x="3889858" y="5632704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600" b="1" dirty="0">
                <a:solidFill>
                  <a:srgbClr val="4B0058"/>
                </a:solidFill>
                <a:latin typeface="Patrick Hand"/>
                <a:ea typeface="Patrick Hand"/>
                <a:cs typeface="Patrick Hand"/>
              </a:rPr>
              <a:t xml:space="preserve">Jeeva K </a:t>
            </a:r>
            <a:r>
              <a:rPr lang="en-US" sz="1300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(IT, 2nd year)</a:t>
            </a:r>
          </a:p>
        </p:txBody>
      </p:sp>
      <p:sp>
        <p:nvSpPr>
          <p:cNvPr id="208" name="Solution 208"/>
          <p:cNvSpPr/>
          <p:nvPr/>
        </p:nvSpPr>
        <p:spPr>
          <a:xfrm>
            <a:off x="1192378" y="5989320"/>
            <a:ext cx="6035040" cy="384048"/>
          </a:xfrm>
          <a:prstGeom prst="roundRect">
            <a:avLst>
              <a:gd name="adj" fmla="val 30000"/>
            </a:avLst>
          </a:prstGeom>
          <a:solidFill>
            <a:srgbClr val="680078"/>
          </a:solidFill>
          <a:ln>
            <a:noFill/>
          </a:ln>
        </p:spPr>
        <p:txBody>
          <a:bodyPr wrap="square" lIns="128016" tIns="18288" rIns="91440" bIns="18288" rtlCol="0" anchor="ctr">
            <a:noAutofit/>
          </a:bodyPr>
          <a:lstStyle/>
          <a:p>
            <a:pPr algn="l" marL="0" indent="0">
              <a:buNone/>
            </a:pPr>
            <a:r>
              <a:rPr lang="en-US" sz="1400" dirty="0">
                <a:solidFill>
                  <a:srgbClr val="D2B8CC"/>
                </a:solidFill>
                <a:latin typeface="Patrick Hand"/>
                <a:ea typeface="Patrick Hand"/>
                <a:cs typeface="Patrick Hand"/>
              </a:rPr>
              <a:t xml:space="preserve">Our solution: </a:t>
            </a:r>
            <a:r>
              <a:rPr lang="en-US" sz="1400" dirty="0">
                <a:solidFill>
                  <a:srgbClr val="FBFADB"/>
                </a:solidFill>
                <a:latin typeface="Patrick Hand"/>
                <a:ea typeface="Patrick Hand"/>
                <a:cs typeface="Patrick Hand"/>
              </a:rPr>
              <a:t>Terrarium: Focus Debt, a Chrome extension that swaps the scroll for a task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scribbles, underline and torn pap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5200"/>
              </a:lnSpc>
            </a:pPr>
            <a:r>
              <a:rPr lang="en-US" sz="5200" b="0" i="0">
                <a:solidFill>
                  <a:srgbClr val="680078"/>
                </a:solidFill>
                <a:latin typeface="Caveat Brush"/>
                <a:ea typeface="Caveat Brush" pitchFamily="18" charset="-122"/>
                <a:cs typeface="Caveat Brush" pitchFamily="18" charset="-120"/>
              </a:rPr>
              <a:t>The </a:t>
            </a:r>
            <a:r>
              <a:rPr lang="en-US">
                <a:latin typeface="Caveat Brush"/>
                <a:ea typeface="Caveat Brush" pitchFamily="18" charset="-122"/>
                <a:cs typeface="Caveat Brush" pitchFamily="18" charset="-120"/>
              </a:rPr>
              <a:t>Assigned Ick</a:t>
            </a:r>
            <a:r>
              <a:rPr lang="en-US" sz="5200" b="0" i="0">
                <a:solidFill>
                  <a:srgbClr val="680078"/>
                </a:solidFill>
                <a:latin typeface="Caveat Brush"/>
                <a:ea typeface="Caveat Brush" pitchFamily="18" charset="-122"/>
                <a:cs typeface="Caveat Brush" pitchFamily="18" charset="-120"/>
              </a:rPr>
              <a:t> (Problem Statement)</a:t>
            </a:r>
            <a:endParaRPr lang="en-US" sz="5200">
              <a:latin typeface="Caveat Brush"/>
            </a:endParaRPr>
          </a:p>
        </p:txBody>
      </p:sp>
      <p:sp>
        <p:nvSpPr>
          <p:cNvPr id="4" name="Shape 1"/>
          <p:cNvSpPr/>
          <p:nvPr/>
        </p:nvSpPr>
        <p:spPr>
          <a:xfrm>
            <a:off x="812800" y="1524000"/>
            <a:ext cx="10566400" cy="1163320"/>
          </a:xfrm>
          <a:prstGeom prst="roundRect">
            <a:avLst>
              <a:gd name="adj" fmla="val 15284"/>
            </a:avLst>
          </a:prstGeom>
          <a:solidFill>
            <a:srgbClr val="680078"/>
          </a:solidFill>
          <a:ln/>
        </p:spPr>
      </p:sp>
      <p:sp>
        <p:nvSpPr>
          <p:cNvPr id="5" name="Text 2"/>
          <p:cNvSpPr/>
          <p:nvPr/>
        </p:nvSpPr>
        <p:spPr>
          <a:xfrm>
            <a:off x="1168400" y="1778000"/>
            <a:ext cx="10150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50" dirty="0">
                <a:solidFill>
                  <a:srgbClr val="D2B8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Proposed Solution (Describe your Idea/Solution/Prototype)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68400" y="2103120"/>
            <a:ext cx="1015085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FBFADB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What is the everyday inconvenience? What exactly happens? Who experiences it?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5500" y="2954020"/>
            <a:ext cx="10541000" cy="2875280"/>
          </a:xfrm>
          <a:prstGeom prst="roundRect">
            <a:avLst>
              <a:gd name="adj" fmla="val 6625"/>
            </a:avLst>
          </a:prstGeom>
          <a:solidFill>
            <a:srgbClr val="FEFDE9"/>
          </a:solidFill>
          <a:ln w="25400">
            <a:solidFill>
              <a:srgbClr val="B48AB9"/>
            </a:solidFill>
            <a:prstDash val="dash"/>
          </a:ln>
        </p:spPr>
      </p:sp>
      <p:sp>
        <p:nvSpPr>
          <p:cNvPr id="9" name="Text 5"/>
          <p:cNvSpPr/>
          <p:nvPr/>
        </p:nvSpPr>
        <p:spPr>
          <a:xfrm>
            <a:off x="812800" y="6253480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68007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IEEE WIE, SSN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023600" y="6344920"/>
            <a:ext cx="558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240"/>
              </a:lnSpc>
              <a:buNone/>
            </a:pPr>
            <a:r>
              <a:rPr lang="en-US" sz="1600" dirty="0">
                <a:solidFill>
                  <a:srgbClr val="4B0058"/>
                </a:solidFill>
                <a:latin typeface="Caveat Brush" pitchFamily="18" charset="0"/>
                <a:ea typeface="Caveat Brush" pitchFamily="18" charset="-122"/>
                <a:cs typeface="Caveat Brush" pitchFamily="18" charset="-120"/>
              </a:rPr>
              <a:t>2</a:t>
            </a:r>
            <a:endParaRPr lang="en-US" sz="1600" dirty="0"/>
          </a:p>
        </p:txBody>
      </p:sp>
      <p:pic>
        <p:nvPicPr>
          <p:cNvPr id="11" name="Image 2" descr="IEEE Women in Engineering logo"/>
          <p:cNvPicPr>
            <a:picLocks noChangeAspect="1"/>
          </p:cNvPicPr>
          <p:nvPr/>
        </p:nvPicPr>
        <p:blipFill>
          <a:blip r:embed="rId4"/>
          <a:srcRect t="-27" b="-27"/>
          <a:stretch/>
        </p:blipFill>
        <p:spPr>
          <a:xfrm>
            <a:off x="10553700" y="355600"/>
            <a:ext cx="825500" cy="787400"/>
          </a:xfrm>
          <a:prstGeom prst="rect">
            <a:avLst/>
          </a:prstGeom>
        </p:spPr>
      </p:pic>
      <p:sp>
        <p:nvSpPr>
          <p:cNvPr id="209" name="Text 209"/>
          <p:cNvSpPr txBox="1"/>
          <p:nvPr/>
        </p:nvSpPr>
        <p:spPr>
          <a:xfrm>
            <a:off x="1005840" y="3127248"/>
            <a:ext cx="6355080" cy="25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228600" indent="-228600">
              <a:spcAft>
                <a:spcPts val="700"/>
              </a:spcAft>
              <a:buClr>
                <a:srgbClr val="680078"/>
              </a:buClr>
              <a:buFont typeface="Arial"/>
              <a:buChar char="•"/>
            </a:pPr>
            <a:r>
              <a:rPr lang="en-US" sz="17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“Just 5 minutes”: </a:t>
            </a:r>
            <a:r>
              <a:rPr lang="en-US" sz="17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you open Reels or Shorts and look up an hour later.</a:t>
            </a:r>
          </a:p>
          <a:p>
            <a:pPr algn="l" marL="228600" indent="-228600">
              <a:spcAft>
                <a:spcPts val="700"/>
              </a:spcAft>
              <a:buClr>
                <a:srgbClr val="680078"/>
              </a:buClr>
              <a:buFont typeface="Arial"/>
              <a:buChar char="•"/>
            </a:pPr>
            <a:r>
              <a:rPr lang="en-US" sz="17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No stopping point: </a:t>
            </a:r>
            <a:r>
              <a:rPr lang="en-US" sz="17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infinite feeds, autoplay and swipe-to-next never end.</a:t>
            </a:r>
          </a:p>
          <a:p>
            <a:pPr algn="l" marL="228600" indent="-228600">
              <a:spcAft>
                <a:spcPts val="700"/>
              </a:spcAft>
              <a:buClr>
                <a:srgbClr val="680078"/>
              </a:buClr>
              <a:buFont typeface="Arial"/>
              <a:buChar char="•"/>
            </a:pPr>
            <a:r>
              <a:rPr lang="en-US" sz="17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The cost: </a:t>
            </a:r>
            <a:r>
              <a:rPr lang="en-US" sz="17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tired, anxious, behind on work, sleeping late.</a:t>
            </a:r>
          </a:p>
          <a:p>
            <a:pPr algn="l" marL="228600" indent="-228600">
              <a:spcAft>
                <a:spcPts val="700"/>
              </a:spcAft>
              <a:buClr>
                <a:srgbClr val="680078"/>
              </a:buClr>
              <a:buFont typeface="Arial"/>
              <a:buChar char="•"/>
            </a:pPr>
            <a:r>
              <a:rPr lang="en-US" sz="17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Who: </a:t>
            </a:r>
            <a:r>
              <a:rPr lang="en-US" sz="17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students and young adults, mostly late at night and between classes.</a:t>
            </a:r>
          </a:p>
          <a:p>
            <a:pPr algn="l" marL="228600" indent="-228600">
              <a:spcAft>
                <a:spcPts val="700"/>
              </a:spcAft>
              <a:buClr>
                <a:srgbClr val="680078"/>
              </a:buClr>
              <a:buFont typeface="Arial"/>
              <a:buChar char="•"/>
            </a:pPr>
            <a:r>
              <a:rPr lang="en-US" sz="17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Blockers don't stick: </a:t>
            </a:r>
            <a:r>
              <a:rPr lang="en-US" sz="17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one tap on “ignore limit” and you're back in.</a:t>
            </a:r>
          </a:p>
        </p:txBody>
      </p:sp>
      <p:sp>
        <p:nvSpPr>
          <p:cNvPr id="210" name="Card 210"/>
          <p:cNvSpPr/>
          <p:nvPr/>
        </p:nvSpPr>
        <p:spPr>
          <a:xfrm>
            <a:off x="7726680" y="3127248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2B8CC"/>
            </a:solidFill>
          </a:ln>
          <a:effectLst>
            <a:outerShdw blurRad="63500" dist="19050" dir="5400000" algn="t" rotWithShape="0">
              <a:srgbClr val="4B0058">
                <a:alpha val="18000"/>
              </a:srgbClr>
            </a:outerShdw>
          </a:effectLst>
        </p:spPr>
      </p:sp>
      <p:sp>
        <p:nvSpPr>
          <p:cNvPr id="211" name="Text 211"/>
          <p:cNvSpPr txBox="1"/>
          <p:nvPr/>
        </p:nvSpPr>
        <p:spPr>
          <a:xfrm>
            <a:off x="7818120" y="320040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3400" dirty="0">
                <a:solidFill>
                  <a:srgbClr val="680078"/>
                </a:solidFill>
                <a:latin typeface="Caveat Brush"/>
                <a:ea typeface="Caveat Brush"/>
                <a:cs typeface="Caveat Brush"/>
              </a:rPr>
              <a:t>5 min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7818120" y="38404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buNone/>
            </a:pPr>
            <a:r>
              <a:rPr lang="en-US" sz="15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planned</a:t>
            </a:r>
          </a:p>
        </p:txBody>
      </p:sp>
      <p:cxnSp>
        <p:nvCxnSpPr>
          <p:cNvPr id="213" name="Arrow 213"/>
          <p:cNvCxnSpPr/>
          <p:nvPr/>
        </p:nvCxnSpPr>
        <p:spPr>
          <a:xfrm>
            <a:off x="9235440" y="3547872"/>
            <a:ext cx="365760" cy="0"/>
          </a:xfrm>
          <a:prstGeom prst="straightConnector1">
            <a:avLst/>
          </a:prstGeom>
          <a:ln w="31750">
            <a:solidFill>
              <a:srgbClr val="680078"/>
            </a:solidFill>
            <a:tailEnd type="triangle" w="med" len="med"/>
          </a:ln>
        </p:spPr>
      </p:cxnSp>
      <p:sp>
        <p:nvSpPr>
          <p:cNvPr id="214" name="Text 214"/>
          <p:cNvSpPr txBox="1"/>
          <p:nvPr/>
        </p:nvSpPr>
        <p:spPr>
          <a:xfrm>
            <a:off x="9646920" y="320040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3400" dirty="0">
                <a:solidFill>
                  <a:srgbClr val="B0303A"/>
                </a:solidFill>
                <a:latin typeface="Caveat Brush"/>
                <a:ea typeface="Caveat Brush"/>
                <a:cs typeface="Caveat Brush"/>
              </a:rPr>
              <a:t>60+ min</a:t>
            </a:r>
          </a:p>
        </p:txBody>
      </p:sp>
      <p:sp>
        <p:nvSpPr>
          <p:cNvPr id="215" name="Text 215"/>
          <p:cNvSpPr txBox="1"/>
          <p:nvPr/>
        </p:nvSpPr>
        <p:spPr>
          <a:xfrm>
            <a:off x="9646920" y="384048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buNone/>
            </a:pPr>
            <a:r>
              <a:rPr lang="en-US" sz="15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actually lost</a:t>
            </a:r>
          </a:p>
        </p:txBody>
      </p:sp>
      <p:sp>
        <p:nvSpPr>
          <p:cNvPr id="216" name="Stat 216"/>
          <p:cNvSpPr/>
          <p:nvPr/>
        </p:nvSpPr>
        <p:spPr>
          <a:xfrm>
            <a:off x="7726680" y="4480560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680078"/>
          </a:solidFill>
          <a:ln>
            <a:noFill/>
          </a:ln>
        </p:spPr>
      </p:sp>
      <p:sp>
        <p:nvSpPr>
          <p:cNvPr id="217" name="Text 217"/>
          <p:cNvSpPr txBox="1"/>
          <p:nvPr/>
        </p:nvSpPr>
        <p:spPr>
          <a:xfrm>
            <a:off x="7863840" y="452628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40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46%</a:t>
            </a:r>
          </a:p>
        </p:txBody>
      </p:sp>
      <p:sp>
        <p:nvSpPr>
          <p:cNvPr id="218" name="Text 218"/>
          <p:cNvSpPr txBox="1"/>
          <p:nvPr/>
        </p:nvSpPr>
        <p:spPr>
          <a:xfrm>
            <a:off x="8961120" y="4572000"/>
            <a:ext cx="210312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BFADB"/>
                </a:solidFill>
                <a:latin typeface="Patrick Hand"/>
                <a:ea typeface="Patrick Hand"/>
                <a:cs typeface="Patrick Hand"/>
              </a:rPr>
              <a:t>of US teens say they are online “almost constantly”</a:t>
            </a:r>
          </a:p>
          <a:p>
            <a:pPr algn="l" marL="0" indent="0">
              <a:buNone/>
            </a:pPr>
            <a:r>
              <a:rPr lang="en-US" sz="1200" dirty="0">
                <a:solidFill>
                  <a:srgbClr val="D2B8CC"/>
                </a:solidFill>
                <a:latin typeface="Patrick Hand"/>
                <a:ea typeface="Patrick Hand"/>
                <a:cs typeface="Patrick Hand"/>
              </a:rPr>
              <a:t>Pew Research Center, Dec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scribbles, underline and torn pap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5200"/>
              </a:lnSpc>
            </a:pPr>
            <a:r>
              <a:rPr lang="en-US">
                <a:latin typeface="Caveat Brush"/>
              </a:rPr>
              <a:t>Our Take on the Ick</a:t>
            </a: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12800" y="1524000"/>
            <a:ext cx="5181600" cy="1168400"/>
          </a:xfrm>
          <a:prstGeom prst="roundRect">
            <a:avLst>
              <a:gd name="adj" fmla="val 15217"/>
            </a:avLst>
          </a:prstGeom>
          <a:solidFill>
            <a:srgbClr val="680078"/>
          </a:solidFill>
          <a:ln/>
        </p:spPr>
        <p:txBody>
          <a:bodyPr wrap="square" lIns="303524" tIns="201924" rIns="169412" bIns="176524" rtlCol="0" anchor="t">
            <a:normAutofit/>
          </a:bodyPr>
          <a:lstStyle/>
          <a:p>
            <a:r>
              <a:rPr lang="en-US" sz="2000">
                <a:solidFill>
                  <a:srgbClr val="FBFADB"/>
                </a:solidFill>
                <a:ea typeface="+mn-lt"/>
                <a:cs typeface="+mn-lt"/>
              </a:rPr>
              <a:t>How we understood the problem and what we decided to focus on </a:t>
            </a:r>
            <a:endParaRPr lang="en-US">
              <a:ea typeface="+mn-lt"/>
              <a:cs typeface="+mn-lt"/>
            </a:endParaRPr>
          </a:p>
          <a:p>
            <a:pPr>
              <a:lnSpc>
                <a:spcPts val="2600"/>
              </a:lnSpc>
            </a:pPr>
            <a:endParaRPr lang="en-US" sz="2000" dirty="0">
              <a:solidFill>
                <a:srgbClr val="FBFADB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197600" y="1524000"/>
            <a:ext cx="5181600" cy="1168400"/>
          </a:xfrm>
          <a:prstGeom prst="roundRect">
            <a:avLst>
              <a:gd name="adj" fmla="val 15217"/>
            </a:avLst>
          </a:prstGeom>
          <a:solidFill>
            <a:srgbClr val="D2B8CC"/>
          </a:solidFill>
          <a:ln/>
        </p:spPr>
        <p:txBody>
          <a:bodyPr wrap="square" lIns="303524" tIns="201924" rIns="169412" bIns="176524" rtlCol="0" anchor="t">
            <a:normAutofit/>
          </a:bodyPr>
          <a:lstStyle/>
          <a:p>
            <a:r>
              <a:rPr lang="en-US" sz="2000">
                <a:solidFill>
                  <a:srgbClr val="FBFADB"/>
                </a:solidFill>
              </a:rPr>
              <a:t>Our approach to solving it and the key idea involved in it.</a:t>
            </a:r>
            <a:endParaRPr lang="en-US" sz="2000">
              <a:solidFill>
                <a:srgbClr val="141413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825500" y="2959100"/>
            <a:ext cx="10541000" cy="2870200"/>
          </a:xfrm>
          <a:prstGeom prst="roundRect">
            <a:avLst>
              <a:gd name="adj" fmla="val 6637"/>
            </a:avLst>
          </a:prstGeom>
          <a:solidFill>
            <a:srgbClr val="FEFDE9"/>
          </a:solidFill>
          <a:ln w="25400">
            <a:solidFill>
              <a:srgbClr val="B48AB9"/>
            </a:solidFill>
            <a:prstDash val="dash"/>
          </a:ln>
        </p:spPr>
      </p:sp>
      <p:sp>
        <p:nvSpPr>
          <p:cNvPr id="8" name="Text 4"/>
          <p:cNvSpPr/>
          <p:nvPr/>
        </p:nvSpPr>
        <p:spPr>
          <a:xfrm>
            <a:off x="812800" y="6253480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68007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IEEE WIE, SSN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023600" y="6344920"/>
            <a:ext cx="558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240"/>
              </a:lnSpc>
              <a:buNone/>
            </a:pPr>
            <a:r>
              <a:rPr lang="en-US" sz="1600" dirty="0">
                <a:solidFill>
                  <a:srgbClr val="4B0058"/>
                </a:solidFill>
                <a:latin typeface="Caveat Brush" pitchFamily="18" charset="0"/>
                <a:ea typeface="Caveat Brush" pitchFamily="18" charset="-122"/>
                <a:cs typeface="Caveat Brush" pitchFamily="18" charset="-120"/>
              </a:rPr>
              <a:t>3</a:t>
            </a:r>
            <a:endParaRPr lang="en-US" sz="1600" dirty="0"/>
          </a:p>
        </p:txBody>
      </p:sp>
      <p:pic>
        <p:nvPicPr>
          <p:cNvPr id="10" name="Image 2" descr="IEEE Women in Engineering logo"/>
          <p:cNvPicPr>
            <a:picLocks noChangeAspect="1"/>
          </p:cNvPicPr>
          <p:nvPr/>
        </p:nvPicPr>
        <p:blipFill>
          <a:blip r:embed="rId4"/>
          <a:srcRect t="-27" b="-27"/>
          <a:stretch/>
        </p:blipFill>
        <p:spPr>
          <a:xfrm>
            <a:off x="10553700" y="355600"/>
            <a:ext cx="825500" cy="787400"/>
          </a:xfrm>
          <a:prstGeom prst="rect">
            <a:avLst/>
          </a:prstGeom>
        </p:spPr>
      </p:pic>
      <p:sp>
        <p:nvSpPr>
          <p:cNvPr id="219" name="Text 219"/>
          <p:cNvSpPr txBox="1"/>
          <p:nvPr/>
        </p:nvSpPr>
        <p:spPr>
          <a:xfrm>
            <a:off x="1005840" y="3108960"/>
            <a:ext cx="4709160" cy="2606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228600" indent="-228600">
              <a:spcAft>
                <a:spcPts val="800"/>
              </a:spcAft>
              <a:buClr>
                <a:srgbClr val="680078"/>
              </a:buClr>
              <a:buFont typeface="Arial"/>
              <a:buChar char="•"/>
            </a:pPr>
            <a:r>
              <a:rPr lang="en-US" sz="16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Catch the moment: </a:t>
            </a:r>
            <a:r>
              <a:rPr lang="en-US" sz="16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the urge wins in the first few seconds, so we act right then.</a:t>
            </a:r>
          </a:p>
          <a:p>
            <a:pPr algn="l" marL="228600" indent="-228600">
              <a:spcAft>
                <a:spcPts val="800"/>
              </a:spcAft>
              <a:buClr>
                <a:srgbClr val="680078"/>
              </a:buClr>
              <a:buFont typeface="Arial"/>
              <a:buChar char="•"/>
            </a:pPr>
            <a:r>
              <a:rPr lang="en-US" sz="16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Replace, don't remove: </a:t>
            </a:r>
            <a:r>
              <a:rPr lang="en-US" sz="16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blockers leave a gap, so people bypass them.</a:t>
            </a:r>
          </a:p>
          <a:p>
            <a:pPr algn="l" marL="228600" indent="-228600">
              <a:spcAft>
                <a:spcPts val="800"/>
              </a:spcAft>
              <a:buClr>
                <a:srgbClr val="680078"/>
              </a:buClr>
              <a:buFont typeface="Arial"/>
              <a:buChar char="•"/>
            </a:pPr>
            <a:r>
              <a:rPr lang="en-US" sz="16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Not all of YouTube is bad: </a:t>
            </a:r>
            <a:r>
              <a:rPr lang="en-US" sz="16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lectures and DMs stay untouched; only feeds count.</a:t>
            </a:r>
          </a:p>
          <a:p>
            <a:pPr algn="l" marL="228600" indent="-228600">
              <a:spcAft>
                <a:spcPts val="800"/>
              </a:spcAft>
              <a:buClr>
                <a:srgbClr val="680078"/>
              </a:buClr>
              <a:buFont typeface="Arial"/>
              <a:buChar char="•"/>
            </a:pPr>
            <a:r>
              <a:rPr lang="en-US" sz="16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Focus: </a:t>
            </a:r>
            <a:r>
              <a:rPr lang="en-US" sz="16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Shorts, Reels and home feeds, weighted more late at night.</a:t>
            </a:r>
          </a:p>
        </p:txBody>
      </p:sp>
      <p:sp>
        <p:nvSpPr>
          <p:cNvPr id="220" name="Divider 220"/>
          <p:cNvSpPr/>
          <p:nvPr/>
        </p:nvSpPr>
        <p:spPr>
          <a:xfrm>
            <a:off x="6053328" y="3127248"/>
            <a:ext cx="0" cy="2560320"/>
          </a:xfrm>
          <a:prstGeom prst="rect">
            <a:avLst/>
          </a:prstGeom>
          <a:noFill/>
          <a:ln w="15875">
            <a:solidFill>
              <a:srgbClr val="D2B8CC"/>
            </a:solidFill>
          </a:ln>
        </p:spPr>
      </p:sp>
      <p:sp>
        <p:nvSpPr>
          <p:cNvPr id="221" name="Text 221"/>
          <p:cNvSpPr txBox="1"/>
          <p:nvPr/>
        </p:nvSpPr>
        <p:spPr>
          <a:xfrm>
            <a:off x="6355080" y="3044952"/>
            <a:ext cx="48463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buNone/>
            </a:pPr>
            <a:r>
              <a:rPr lang="en-US" sz="2200" dirty="0">
                <a:solidFill>
                  <a:srgbClr val="680078"/>
                </a:solidFill>
                <a:latin typeface="Caveat Brush"/>
                <a:ea typeface="Caveat Brush"/>
                <a:cs typeface="Caveat Brush"/>
              </a:rPr>
              <a:t>“We don't block the scroll. We swap it.”</a:t>
            </a:r>
          </a:p>
        </p:txBody>
      </p:sp>
      <p:sp>
        <p:nvSpPr>
          <p:cNvPr id="222" name="Badge 222"/>
          <p:cNvSpPr/>
          <p:nvPr/>
        </p:nvSpPr>
        <p:spPr>
          <a:xfrm>
            <a:off x="6355080" y="3566160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1</a:t>
            </a:r>
          </a:p>
        </p:txBody>
      </p:sp>
      <p:sp>
        <p:nvSpPr>
          <p:cNvPr id="223" name="Text 223"/>
          <p:cNvSpPr txBox="1"/>
          <p:nvPr/>
        </p:nvSpPr>
        <p:spPr>
          <a:xfrm>
            <a:off x="6766560" y="3547872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6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Pause  </a:t>
            </a:r>
            <a:r>
              <a:rPr lang="en-US" sz="15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5-sec breath: why are you here, and for how long?</a:t>
            </a:r>
          </a:p>
        </p:txBody>
      </p:sp>
      <p:sp>
        <p:nvSpPr>
          <p:cNvPr id="224" name="Badge 224"/>
          <p:cNvSpPr/>
          <p:nvPr/>
        </p:nvSpPr>
        <p:spPr>
          <a:xfrm>
            <a:off x="6355080" y="3977640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2</a:t>
            </a:r>
          </a:p>
        </p:txBody>
      </p:sp>
      <p:sp>
        <p:nvSpPr>
          <p:cNvPr id="225" name="Text 225"/>
          <p:cNvSpPr txBox="1"/>
          <p:nvPr/>
        </p:nvSpPr>
        <p:spPr>
          <a:xfrm>
            <a:off x="6766560" y="3959352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6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Measure  </a:t>
            </a:r>
            <a:r>
              <a:rPr lang="en-US" sz="15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Focus Debt grows with time, scroll speed, late nights</a:t>
            </a:r>
          </a:p>
        </p:txBody>
      </p:sp>
      <p:sp>
        <p:nvSpPr>
          <p:cNvPr id="226" name="Badge 226"/>
          <p:cNvSpPr/>
          <p:nvPr/>
        </p:nvSpPr>
        <p:spPr>
          <a:xfrm>
            <a:off x="6355080" y="4389120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3</a:t>
            </a:r>
          </a:p>
        </p:txBody>
      </p:sp>
      <p:sp>
        <p:nvSpPr>
          <p:cNvPr id="227" name="Text 227"/>
          <p:cNvSpPr txBox="1"/>
          <p:nvPr/>
        </p:nvSpPr>
        <p:spPr>
          <a:xfrm>
            <a:off x="6766560" y="4370832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6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Nudge  </a:t>
            </a:r>
            <a:r>
              <a:rPr lang="en-US" sz="15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page fades to grey; 20-20-20 eye-break reminders</a:t>
            </a:r>
          </a:p>
        </p:txBody>
      </p:sp>
      <p:sp>
        <p:nvSpPr>
          <p:cNvPr id="228" name="Badge 228"/>
          <p:cNvSpPr/>
          <p:nvPr/>
        </p:nvSpPr>
        <p:spPr>
          <a:xfrm>
            <a:off x="6355080" y="4800600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4</a:t>
            </a:r>
          </a:p>
        </p:txBody>
      </p:sp>
      <p:sp>
        <p:nvSpPr>
          <p:cNvPr id="229" name="Text 229"/>
          <p:cNvSpPr txBox="1"/>
          <p:nvPr/>
        </p:nvSpPr>
        <p:spPr>
          <a:xfrm>
            <a:off x="6766560" y="4782312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6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Swap  </a:t>
            </a:r>
            <a:r>
              <a:rPr lang="en-US" sz="15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pay the debt with one 15-min task picked by mood</a:t>
            </a:r>
          </a:p>
        </p:txBody>
      </p:sp>
      <p:sp>
        <p:nvSpPr>
          <p:cNvPr id="230" name="Badge 230"/>
          <p:cNvSpPr/>
          <p:nvPr/>
        </p:nvSpPr>
        <p:spPr>
          <a:xfrm>
            <a:off x="6355080" y="5212080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5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6766560" y="5193792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6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 xml:space="preserve">Stop  </a:t>
            </a:r>
            <a:r>
              <a:rPr lang="en-US" sz="15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Hard Stop locks feeds till tomorrow; your plant grows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scribbles, underline and torn pap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5200"/>
              </a:lnSpc>
            </a:pPr>
            <a:r>
              <a:rPr lang="en-US">
                <a:latin typeface="Caveat Brush"/>
              </a:rPr>
              <a:t>Technical Implementation</a:t>
            </a: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12800" y="1524000"/>
            <a:ext cx="10566400" cy="838200"/>
          </a:xfrm>
          <a:prstGeom prst="roundRect">
            <a:avLst>
              <a:gd name="adj" fmla="val 21212"/>
            </a:avLst>
          </a:prstGeom>
          <a:solidFill>
            <a:srgbClr val="680078"/>
          </a:solidFill>
          <a:ln/>
        </p:spPr>
        <p:txBody>
          <a:bodyPr wrap="square" lIns="303524" tIns="201924" rIns="7868" bIns="176524" rtlCol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000">
                <a:solidFill>
                  <a:srgbClr val="FBFADB"/>
                </a:solidFill>
                <a:ea typeface="+mn-lt"/>
                <a:cs typeface="+mn-lt"/>
              </a:rPr>
              <a:t>What we built, tech stack used and how it works. Simple workflow / architecture (if any)</a:t>
            </a:r>
            <a:endParaRPr lang="en-US" sz="2000"/>
          </a:p>
          <a:p>
            <a:pPr algn="l"/>
            <a:endParaRPr lang="en-US" sz="2000" dirty="0">
              <a:solidFill>
                <a:srgbClr val="FBFADB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825500" y="2628900"/>
            <a:ext cx="10541000" cy="3401568"/>
          </a:xfrm>
          <a:prstGeom prst="roundRect">
            <a:avLst>
              <a:gd name="adj" fmla="val 5952"/>
            </a:avLst>
          </a:prstGeom>
          <a:solidFill>
            <a:srgbClr val="FEFDE9"/>
          </a:solidFill>
          <a:ln w="25400">
            <a:solidFill>
              <a:srgbClr val="B48AB9"/>
            </a:solidFill>
            <a:prstDash val="dash"/>
          </a:ln>
        </p:spPr>
      </p:sp>
      <p:sp>
        <p:nvSpPr>
          <p:cNvPr id="7" name="Text 3"/>
          <p:cNvSpPr/>
          <p:nvPr/>
        </p:nvSpPr>
        <p:spPr>
          <a:xfrm>
            <a:off x="812800" y="6253482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68007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IEEE WIE, SSN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1023600" y="6344921"/>
            <a:ext cx="558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240"/>
              </a:lnSpc>
              <a:buNone/>
            </a:pPr>
            <a:r>
              <a:rPr lang="en-US" sz="1600" dirty="0">
                <a:solidFill>
                  <a:srgbClr val="4B0058"/>
                </a:solidFill>
                <a:latin typeface="Caveat Brush" pitchFamily="18" charset="0"/>
                <a:ea typeface="Caveat Brush" pitchFamily="18" charset="-122"/>
                <a:cs typeface="Caveat Brush" pitchFamily="18" charset="-120"/>
              </a:rPr>
              <a:t>4</a:t>
            </a:r>
            <a:endParaRPr lang="en-US" sz="1600" dirty="0"/>
          </a:p>
        </p:txBody>
      </p:sp>
      <p:pic>
        <p:nvPicPr>
          <p:cNvPr id="9" name="Image 2" descr="IEEE Women in Engineering logo"/>
          <p:cNvPicPr>
            <a:picLocks noChangeAspect="1"/>
          </p:cNvPicPr>
          <p:nvPr/>
        </p:nvPicPr>
        <p:blipFill>
          <a:blip r:embed="rId4"/>
          <a:srcRect t="-27" b="-27"/>
          <a:stretch/>
        </p:blipFill>
        <p:spPr>
          <a:xfrm>
            <a:off x="10553700" y="355600"/>
            <a:ext cx="825500" cy="787400"/>
          </a:xfrm>
          <a:prstGeom prst="rect">
            <a:avLst/>
          </a:prstGeom>
        </p:spPr>
      </p:pic>
      <p:sp>
        <p:nvSpPr>
          <p:cNvPr id="232" name="Node 232"/>
          <p:cNvSpPr/>
          <p:nvPr/>
        </p:nvSpPr>
        <p:spPr>
          <a:xfrm>
            <a:off x="1005840" y="2743200"/>
            <a:ext cx="19202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48AB9"/>
            </a:solidFill>
          </a:ln>
          <a:effectLst>
            <a:outerShdw blurRad="63500" dist="19050" dir="5400000" algn="t" rotWithShape="0">
              <a:srgbClr val="4B0058">
                <a:alpha val="18000"/>
              </a:srgbClr>
            </a:outerShdw>
          </a:effectLst>
        </p:spPr>
        <p:txBody>
          <a:bodyPr wrap="square" lIns="91440" tIns="54864" rIns="73152" bIns="36576" rtlCol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Feed tab</a:t>
            </a:r>
          </a:p>
          <a:p>
            <a:pPr algn="l" marL="0" indent="0">
              <a:buNone/>
            </a:pPr>
            <a:r>
              <a:rPr lang="en-US" sz="13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content.js: scroll speed, Shorts/Reels count, pause gate, grey fade, alerts</a:t>
            </a:r>
          </a:p>
        </p:txBody>
      </p:sp>
      <p:sp>
        <p:nvSpPr>
          <p:cNvPr id="233" name="Node 233"/>
          <p:cNvSpPr/>
          <p:nvPr/>
        </p:nvSpPr>
        <p:spPr>
          <a:xfrm>
            <a:off x="1005840" y="4297680"/>
            <a:ext cx="19202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48AB9"/>
            </a:solidFill>
          </a:ln>
          <a:effectLst>
            <a:outerShdw blurRad="63500" dist="19050" dir="5400000" algn="t" rotWithShape="0">
              <a:srgbClr val="4B0058">
                <a:alpha val="18000"/>
              </a:srgbClr>
            </a:outerShdw>
          </a:effectLst>
        </p:spPr>
        <p:txBody>
          <a:bodyPr wrap="square" lIns="91440" tIns="54864" rIns="73152" bIns="36576" rtlCol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Focus Mirror</a:t>
            </a:r>
          </a:p>
          <a:p>
            <a:pPr algn="l" marL="0" indent="0">
              <a:buNone/>
            </a:pPr>
            <a:r>
              <a:rPr lang="en-US" sz="13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Offscreen camera, MediaPipe Face: blinks, drowsiness, distance (opt-in)</a:t>
            </a:r>
          </a:p>
        </p:txBody>
      </p:sp>
      <p:sp>
        <p:nvSpPr>
          <p:cNvPr id="234" name="Core 234"/>
          <p:cNvSpPr/>
          <p:nvPr/>
        </p:nvSpPr>
        <p:spPr>
          <a:xfrm>
            <a:off x="3310128" y="2743200"/>
            <a:ext cx="1920240" cy="2926080"/>
          </a:xfrm>
          <a:prstGeom prst="roundRect">
            <a:avLst>
              <a:gd name="adj" fmla="val 8000"/>
            </a:avLst>
          </a:prstGeom>
          <a:solidFill>
            <a:srgbClr val="680078"/>
          </a:solidFill>
          <a:ln>
            <a:noFill/>
          </a:ln>
          <a:effectLst>
            <a:outerShdw blurRad="63500" dist="19050" dir="5400000" algn="t" rotWithShape="0">
              <a:srgbClr val="4B0058">
                <a:alpha val="18000"/>
              </a:srgbClr>
            </a:outerShdw>
          </a:effectLst>
        </p:spPr>
        <p:txBody>
          <a:bodyPr wrap="square" lIns="109728" tIns="91440" rIns="73152" bIns="54864" rtlCol="0" anchor="ctr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BFADB"/>
                </a:solidFill>
                <a:latin typeface="Patrick Hand"/>
                <a:ea typeface="Patrick Hand"/>
                <a:cs typeface="Patrick Hand"/>
              </a:rPr>
              <a:t>Service worker</a:t>
            </a:r>
          </a:p>
          <a:p>
            <a:pPr algn="l" marL="228600" indent="-228600">
              <a:spcAft>
                <a:spcPts val="300"/>
              </a:spcAft>
              <a:buClr>
                <a:srgbClr val="D2B8CC"/>
              </a:buClr>
              <a:buFont typeface="Arial"/>
              <a:buChar char="•"/>
            </a:pPr>
            <a:r>
              <a:rPr lang="en-US" sz="1300" dirty="0">
                <a:solidFill>
                  <a:srgbClr val="FBFADB"/>
                </a:solidFill>
                <a:latin typeface="Patrick Hand"/>
                <a:ea typeface="Patrick Hand"/>
                <a:cs typeface="Patrick Hand"/>
              </a:rPr>
              <a:t>Focus Debt engine</a:t>
            </a:r>
          </a:p>
          <a:p>
            <a:pPr algn="l" marL="228600" indent="-228600">
              <a:spcAft>
                <a:spcPts val="300"/>
              </a:spcAft>
              <a:buClr>
                <a:srgbClr val="D2B8CC"/>
              </a:buClr>
              <a:buFont typeface="Arial"/>
              <a:buChar char="•"/>
            </a:pPr>
            <a:r>
              <a:rPr lang="en-US" sz="1300" dirty="0">
                <a:solidFill>
                  <a:srgbClr val="FBFADB"/>
                </a:solidFill>
                <a:latin typeface="Patrick Hand"/>
                <a:ea typeface="Patrick Hand"/>
                <a:cs typeface="Patrick Hand"/>
              </a:rPr>
              <a:t>Feed-aware rules (path level)</a:t>
            </a:r>
          </a:p>
          <a:p>
            <a:pPr algn="l" marL="228600" indent="-228600">
              <a:spcAft>
                <a:spcPts val="300"/>
              </a:spcAft>
              <a:buClr>
                <a:srgbClr val="D2B8CC"/>
              </a:buClr>
              <a:buFont typeface="Arial"/>
              <a:buChar char="•"/>
            </a:pPr>
            <a:r>
              <a:rPr lang="en-US" sz="1300" dirty="0">
                <a:solidFill>
                  <a:srgbClr val="FBFADB"/>
                </a:solidFill>
                <a:latin typeface="Patrick Hand"/>
                <a:ea typeface="Patrick Hand"/>
                <a:cs typeface="Patrick Hand"/>
              </a:rPr>
              <a:t>Per-site budgets, daily item limit</a:t>
            </a:r>
          </a:p>
          <a:p>
            <a:pPr algn="l" marL="228600" indent="-228600">
              <a:spcAft>
                <a:spcPts val="300"/>
              </a:spcAft>
              <a:buClr>
                <a:srgbClr val="D2B8CC"/>
              </a:buClr>
              <a:buFont typeface="Arial"/>
              <a:buChar char="•"/>
            </a:pPr>
            <a:r>
              <a:rPr lang="en-US" sz="1300" dirty="0">
                <a:solidFill>
                  <a:srgbClr val="FBFADB"/>
                </a:solidFill>
                <a:latin typeface="Patrick Hand"/>
                <a:ea typeface="Patrick Hand"/>
                <a:cs typeface="Patrick Hand"/>
              </a:rPr>
              <a:t>Hard Stop until midnight</a:t>
            </a:r>
          </a:p>
          <a:p>
            <a:pPr algn="l" marL="228600" indent="-228600">
              <a:spcAft>
                <a:spcPts val="300"/>
              </a:spcAft>
              <a:buClr>
                <a:srgbClr val="D2B8CC"/>
              </a:buClr>
              <a:buFont typeface="Arial"/>
              <a:buChar char="•"/>
            </a:pPr>
            <a:r>
              <a:rPr lang="en-US" sz="1300" dirty="0">
                <a:solidFill>
                  <a:srgbClr val="FBFADB"/>
                </a:solidFill>
                <a:latin typeface="Patrick Hand"/>
                <a:ea typeface="Patrick Hand"/>
                <a:cs typeface="Patrick Hand"/>
              </a:rPr>
              <a:t>Night x1.5 multiplier</a:t>
            </a:r>
          </a:p>
        </p:txBody>
      </p:sp>
      <p:sp>
        <p:nvSpPr>
          <p:cNvPr id="235" name="Node 235"/>
          <p:cNvSpPr/>
          <p:nvPr/>
        </p:nvSpPr>
        <p:spPr>
          <a:xfrm>
            <a:off x="5614416" y="2743200"/>
            <a:ext cx="19202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48AB9"/>
            </a:solidFill>
          </a:ln>
          <a:effectLst>
            <a:outerShdw blurRad="63500" dist="19050" dir="5400000" algn="t" rotWithShape="0">
              <a:srgbClr val="4B0058">
                <a:alpha val="18000"/>
              </a:srgbClr>
            </a:outerShdw>
          </a:effectLst>
        </p:spPr>
        <p:txBody>
          <a:bodyPr wrap="square" lIns="91440" tIns="54864" rIns="73152" bIns="36576" rtlCol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Terrarium + popup</a:t>
            </a:r>
          </a:p>
          <a:p>
            <a:pPr algn="l" marL="0" indent="0">
              <a:buNone/>
            </a:pPr>
            <a:r>
              <a:rPr lang="en-US" sz="13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Life Mixer task, honest timer, camera rep counter (Pose), Insights</a:t>
            </a:r>
          </a:p>
        </p:txBody>
      </p:sp>
      <p:sp>
        <p:nvSpPr>
          <p:cNvPr id="236" name="Node 236"/>
          <p:cNvSpPr/>
          <p:nvPr/>
        </p:nvSpPr>
        <p:spPr>
          <a:xfrm>
            <a:off x="5614416" y="4297680"/>
            <a:ext cx="19202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48AB9"/>
            </a:solidFill>
          </a:ln>
          <a:effectLst>
            <a:outerShdw blurRad="63500" dist="19050" dir="5400000" algn="t" rotWithShape="0">
              <a:srgbClr val="4B0058">
                <a:alpha val="18000"/>
              </a:srgbClr>
            </a:outerShdw>
          </a:effectLst>
        </p:spPr>
        <p:txBody>
          <a:bodyPr wrap="square" lIns="91440" tIns="54864" rIns="73152" bIns="36576" rtlCol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Storage + AI</a:t>
            </a:r>
          </a:p>
          <a:p>
            <a:pPr algn="l" marL="0" indent="0">
              <a:buNone/>
            </a:pPr>
            <a:r>
              <a:rPr lang="en-US" sz="13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chrome.storage (no server); optional Gemini/OpenAI, offline task fallback</a:t>
            </a:r>
          </a:p>
        </p:txBody>
      </p:sp>
      <p:cxnSp>
        <p:nvCxnSpPr>
          <p:cNvPr id="237" name="Arrow 237"/>
          <p:cNvCxnSpPr/>
          <p:nvPr/>
        </p:nvCxnSpPr>
        <p:spPr>
          <a:xfrm>
            <a:off x="2971800" y="3429000"/>
            <a:ext cx="292608" cy="0"/>
          </a:xfrm>
          <a:prstGeom prst="straightConnector1">
            <a:avLst/>
          </a:prstGeom>
          <a:ln w="25400">
            <a:solidFill>
              <a:srgbClr val="680078"/>
            </a:solidFill>
            <a:tailEnd type="triangle" w="med" len="med"/>
          </a:ln>
        </p:spPr>
      </p:cxnSp>
      <p:cxnSp>
        <p:nvCxnSpPr>
          <p:cNvPr id="238" name="Arrow 238"/>
          <p:cNvCxnSpPr/>
          <p:nvPr/>
        </p:nvCxnSpPr>
        <p:spPr>
          <a:xfrm>
            <a:off x="5276088" y="3429000"/>
            <a:ext cx="292608" cy="0"/>
          </a:xfrm>
          <a:prstGeom prst="straightConnector1">
            <a:avLst/>
          </a:prstGeom>
          <a:ln w="25400">
            <a:solidFill>
              <a:srgbClr val="680078"/>
            </a:solidFill>
            <a:tailEnd type="triangle" w="med" len="med"/>
          </a:ln>
        </p:spPr>
      </p:cxnSp>
      <p:cxnSp>
        <p:nvCxnSpPr>
          <p:cNvPr id="239" name="Arrow 239"/>
          <p:cNvCxnSpPr/>
          <p:nvPr/>
        </p:nvCxnSpPr>
        <p:spPr>
          <a:xfrm>
            <a:off x="2971800" y="4983480"/>
            <a:ext cx="292608" cy="0"/>
          </a:xfrm>
          <a:prstGeom prst="straightConnector1">
            <a:avLst/>
          </a:prstGeom>
          <a:ln w="25400">
            <a:solidFill>
              <a:srgbClr val="680078"/>
            </a:solidFill>
            <a:tailEnd type="triangle" w="med" len="med"/>
          </a:ln>
        </p:spPr>
      </p:cxnSp>
      <p:cxnSp>
        <p:nvCxnSpPr>
          <p:cNvPr id="240" name="Arrow 240"/>
          <p:cNvCxnSpPr/>
          <p:nvPr/>
        </p:nvCxnSpPr>
        <p:spPr>
          <a:xfrm>
            <a:off x="5276088" y="4983480"/>
            <a:ext cx="292608" cy="0"/>
          </a:xfrm>
          <a:prstGeom prst="straightConnector1">
            <a:avLst/>
          </a:prstGeom>
          <a:ln w="25400">
            <a:solidFill>
              <a:srgbClr val="680078"/>
            </a:solidFill>
            <a:tailEnd type="triangle" w="med" len="med"/>
          </a:ln>
        </p:spPr>
      </p:cxnSp>
      <p:sp>
        <p:nvSpPr>
          <p:cNvPr id="241" name="Text 241"/>
          <p:cNvSpPr txBox="1"/>
          <p:nvPr/>
        </p:nvSpPr>
        <p:spPr>
          <a:xfrm>
            <a:off x="7772400" y="269748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buNone/>
            </a:pPr>
            <a:r>
              <a:rPr lang="en-US" sz="18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Tech stack</a:t>
            </a:r>
          </a:p>
        </p:txBody>
      </p:sp>
      <p:sp>
        <p:nvSpPr>
          <p:cNvPr id="242" name="Text 242"/>
          <p:cNvSpPr txBox="1"/>
          <p:nvPr/>
        </p:nvSpPr>
        <p:spPr>
          <a:xfrm>
            <a:off x="7772400" y="3063240"/>
            <a:ext cx="3429000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28600" indent="-228600">
              <a:spcAft>
                <a:spcPts val="200"/>
              </a:spcAft>
              <a:buClr>
                <a:srgbClr val="680078"/>
              </a:buClr>
              <a:buFont typeface="Arial"/>
              <a:buChar char="•"/>
            </a:pPr>
            <a:r>
              <a:rPr lang="en-US" sz="14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Chrome Extension, Manifest V3</a:t>
            </a:r>
          </a:p>
          <a:p>
            <a:pPr algn="l" marL="228600" indent="-228600">
              <a:spcAft>
                <a:spcPts val="200"/>
              </a:spcAft>
              <a:buClr>
                <a:srgbClr val="680078"/>
              </a:buClr>
              <a:buFont typeface="Arial"/>
              <a:buChar char="•"/>
            </a:pPr>
            <a:r>
              <a:rPr lang="en-US" sz="14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JavaScript (ES modules), HTML, CSS</a:t>
            </a:r>
          </a:p>
          <a:p>
            <a:pPr algn="l" marL="228600" indent="-228600">
              <a:spcAft>
                <a:spcPts val="200"/>
              </a:spcAft>
              <a:buClr>
                <a:srgbClr val="680078"/>
              </a:buClr>
              <a:buFont typeface="Arial"/>
              <a:buChar char="•"/>
            </a:pPr>
            <a:r>
              <a:rPr lang="en-US" sz="14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MediaPipe Tasks Vision (WASM), on-device</a:t>
            </a:r>
          </a:p>
          <a:p>
            <a:pPr algn="l" marL="228600" indent="-228600">
              <a:spcAft>
                <a:spcPts val="200"/>
              </a:spcAft>
              <a:buClr>
                <a:srgbClr val="680078"/>
              </a:buClr>
              <a:buFont typeface="Arial"/>
              <a:buChar char="•"/>
            </a:pPr>
            <a:r>
              <a:rPr lang="en-US" sz="14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Chrome storage, alarms, offscreen APIs</a:t>
            </a:r>
          </a:p>
          <a:p>
            <a:pPr algn="l" marL="228600" indent="-228600">
              <a:spcAft>
                <a:spcPts val="200"/>
              </a:spcAft>
              <a:buClr>
                <a:srgbClr val="680078"/>
              </a:buClr>
              <a:buFont typeface="Arial"/>
              <a:buChar char="•"/>
            </a:pPr>
            <a:r>
              <a:rPr lang="en-US" sz="14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Optional Gemini 2.5 Flash / OpenAI</a:t>
            </a:r>
          </a:p>
        </p:txBody>
      </p:sp>
      <p:sp>
        <p:nvSpPr>
          <p:cNvPr id="243" name="Formula 243"/>
          <p:cNvSpPr/>
          <p:nvPr/>
        </p:nvSpPr>
        <p:spPr>
          <a:xfrm>
            <a:off x="7772400" y="4617720"/>
            <a:ext cx="3383280" cy="658368"/>
          </a:xfrm>
          <a:prstGeom prst="roundRect">
            <a:avLst>
              <a:gd name="adj" fmla="val 14000"/>
            </a:avLst>
          </a:prstGeom>
          <a:solidFill>
            <a:srgbClr val="D2B8CC"/>
          </a:solidFill>
          <a:ln>
            <a:noFill/>
          </a:ln>
        </p:spPr>
        <p:txBody>
          <a:bodyPr wrap="square" lIns="109728" tIns="45720" rIns="91440" bIns="45720" rtlCol="0" anchor="ctr">
            <a:noAutofit/>
          </a:bodyPr>
          <a:lstStyle/>
          <a:p>
            <a:pPr algn="l" marL="0" indent="0">
              <a:buNone/>
            </a:pPr>
            <a:r>
              <a:rPr lang="en-US" sz="1300" dirty="0">
                <a:solidFill>
                  <a:srgbClr val="4B0058"/>
                </a:solidFill>
                <a:latin typeface="Patrick Hand"/>
                <a:ea typeface="Patrick Hand"/>
                <a:cs typeface="Patrick Hand"/>
              </a:rPr>
              <a:t>Focus Debt += seconds × (1 + scroll speed + tiredness) × night factor</a:t>
            </a:r>
          </a:p>
        </p:txBody>
      </p:sp>
      <p:sp>
        <p:nvSpPr>
          <p:cNvPr id="244" name="Text 244"/>
          <p:cNvSpPr txBox="1"/>
          <p:nvPr/>
        </p:nvSpPr>
        <p:spPr>
          <a:xfrm>
            <a:off x="7772400" y="534924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buNone/>
            </a:pPr>
            <a:r>
              <a:rPr lang="en-US" sz="1300" b="1" dirty="0">
                <a:solidFill>
                  <a:srgbClr val="2F6B3B"/>
                </a:solidFill>
                <a:latin typeface="Patrick Hand"/>
                <a:ea typeface="Patrick Hand"/>
                <a:cs typeface="Patrick Hand"/>
              </a:rPr>
              <a:t>No account, no server. Camera frames never leave the laptop.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scribbles, underline and torn pap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5200"/>
              </a:lnSpc>
            </a:pPr>
            <a:r>
              <a:rPr lang="en-US">
                <a:latin typeface="Caveat Brush"/>
              </a:rPr>
              <a:t>Project Screenshots</a:t>
            </a: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12800" y="1524000"/>
            <a:ext cx="10566400" cy="838200"/>
          </a:xfrm>
          <a:prstGeom prst="roundRect">
            <a:avLst>
              <a:gd name="adj" fmla="val 21212"/>
            </a:avLst>
          </a:prstGeom>
          <a:solidFill>
            <a:srgbClr val="680078"/>
          </a:solidFill>
          <a:ln/>
        </p:spPr>
        <p:txBody>
          <a:bodyPr wrap="square" lIns="303524" tIns="201924" rIns="7868" bIns="176524" rtlCol="0" anchor="t">
            <a:normAutofit/>
          </a:bodyPr>
          <a:lstStyle/>
          <a:p>
            <a:r>
              <a:rPr lang="en-US" sz="2000">
                <a:solidFill>
                  <a:srgbClr val="FBFADB"/>
                </a:solidFill>
                <a:ea typeface="+mn-lt"/>
                <a:cs typeface="+mn-lt"/>
              </a:rPr>
              <a:t>Working prototype / demo screenshots, main features and key user flow</a:t>
            </a:r>
            <a:endParaRPr lang="en-US"/>
          </a:p>
          <a:p>
            <a:pPr marL="0" indent="0" algn="l">
              <a:lnSpc>
                <a:spcPts val="2600"/>
              </a:lnSpc>
              <a:buNone/>
            </a:pPr>
            <a:endParaRPr lang="en-US" sz="2000" dirty="0">
              <a:solidFill>
                <a:srgbClr val="FBFADB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825500" y="2628900"/>
            <a:ext cx="10541000" cy="3401568"/>
          </a:xfrm>
          <a:prstGeom prst="roundRect">
            <a:avLst>
              <a:gd name="adj" fmla="val 5952"/>
            </a:avLst>
          </a:prstGeom>
          <a:solidFill>
            <a:srgbClr val="FEFDE9"/>
          </a:solidFill>
          <a:ln w="25400">
            <a:solidFill>
              <a:srgbClr val="B48AB9"/>
            </a:solidFill>
            <a:prstDash val="dash"/>
          </a:ln>
        </p:spPr>
      </p:sp>
      <p:sp>
        <p:nvSpPr>
          <p:cNvPr id="7" name="Text 3"/>
          <p:cNvSpPr/>
          <p:nvPr/>
        </p:nvSpPr>
        <p:spPr>
          <a:xfrm>
            <a:off x="812800" y="6253482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68007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IEEE WIE, SSN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1023600" y="6344921"/>
            <a:ext cx="558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240"/>
              </a:lnSpc>
              <a:buNone/>
            </a:pPr>
            <a:r>
              <a:rPr lang="en-US" sz="1600" dirty="0">
                <a:solidFill>
                  <a:srgbClr val="4B0058"/>
                </a:solidFill>
                <a:latin typeface="Caveat Brush" pitchFamily="18" charset="0"/>
                <a:ea typeface="Caveat Brush" pitchFamily="18" charset="-122"/>
                <a:cs typeface="Caveat Brush" pitchFamily="18" charset="-120"/>
              </a:rPr>
              <a:t>5</a:t>
            </a:r>
            <a:endParaRPr lang="en-US" sz="1600" dirty="0"/>
          </a:p>
        </p:txBody>
      </p:sp>
      <p:pic>
        <p:nvPicPr>
          <p:cNvPr id="9" name="Image 2" descr="IEEE Women in Engineering logo"/>
          <p:cNvPicPr>
            <a:picLocks noChangeAspect="1"/>
          </p:cNvPicPr>
          <p:nvPr/>
        </p:nvPicPr>
        <p:blipFill>
          <a:blip r:embed="rId4"/>
          <a:srcRect t="-27" b="-27"/>
          <a:stretch/>
        </p:blipFill>
        <p:spPr>
          <a:xfrm>
            <a:off x="10553700" y="355600"/>
            <a:ext cx="825500" cy="787400"/>
          </a:xfrm>
          <a:prstGeom prst="rect">
            <a:avLst/>
          </a:prstGeom>
        </p:spPr>
      </p:pic>
      <p:pic>
        <p:nvPicPr>
          <p:cNvPr id="245" name="Screenshot 245" descr="Pause: A 5-second breath, then “what did you come for?”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05840" y="2743200"/>
            <a:ext cx="2084832" cy="1319514"/>
          </a:xfrm>
          <a:prstGeom prst="roundRect">
            <a:avLst>
              <a:gd name="adj" fmla="val 4000"/>
            </a:avLst>
          </a:prstGeom>
          <a:ln w="12700">
            <a:solidFill>
              <a:srgbClr val="B48AB9"/>
            </a:solidFill>
          </a:ln>
          <a:effectLst>
            <a:outerShdw blurRad="76200" dist="25400" dir="5400000" algn="t" rotWithShape="0">
              <a:srgbClr val="4B0058">
                <a:alpha val="22000"/>
              </a:srgbClr>
            </a:outerShdw>
          </a:effectLst>
        </p:spPr>
      </p:pic>
      <p:sp>
        <p:nvSpPr>
          <p:cNvPr id="246" name="Badge 246"/>
          <p:cNvSpPr/>
          <p:nvPr/>
        </p:nvSpPr>
        <p:spPr>
          <a:xfrm>
            <a:off x="3218688" y="2761488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1</a:t>
            </a:r>
          </a:p>
        </p:txBody>
      </p:sp>
      <p:sp>
        <p:nvSpPr>
          <p:cNvPr id="247" name="Text 247"/>
          <p:cNvSpPr txBox="1"/>
          <p:nvPr/>
        </p:nvSpPr>
        <p:spPr>
          <a:xfrm>
            <a:off x="3218688" y="3127248"/>
            <a:ext cx="11155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Pause</a:t>
            </a:r>
          </a:p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A 5-second breath, then “what did you come for?”</a:t>
            </a:r>
          </a:p>
        </p:txBody>
      </p:sp>
      <p:pic>
        <p:nvPicPr>
          <p:cNvPr id="248" name="Screenshot 248" descr="Track: Debt gauge, grey fade and eye-break tips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07408" y="2743200"/>
            <a:ext cx="2084832" cy="1319514"/>
          </a:xfrm>
          <a:prstGeom prst="roundRect">
            <a:avLst>
              <a:gd name="adj" fmla="val 4000"/>
            </a:avLst>
          </a:prstGeom>
          <a:ln w="12700">
            <a:solidFill>
              <a:srgbClr val="B48AB9"/>
            </a:solidFill>
          </a:ln>
          <a:effectLst>
            <a:outerShdw blurRad="76200" dist="25400" dir="5400000" algn="t" rotWithShape="0">
              <a:srgbClr val="4B0058">
                <a:alpha val="22000"/>
              </a:srgbClr>
            </a:outerShdw>
          </a:effectLst>
        </p:spPr>
      </p:pic>
      <p:sp>
        <p:nvSpPr>
          <p:cNvPr id="249" name="Badge 249"/>
          <p:cNvSpPr/>
          <p:nvPr/>
        </p:nvSpPr>
        <p:spPr>
          <a:xfrm>
            <a:off x="6620256" y="2761488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2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6620256" y="3127248"/>
            <a:ext cx="11155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Track</a:t>
            </a:r>
          </a:p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Debt gauge, grey fade and eye-break tips</a:t>
            </a:r>
          </a:p>
        </p:txBody>
      </p:sp>
      <p:pic>
        <p:nvPicPr>
          <p:cNvPr id="251" name="Screenshot 251" descr="Alert: At 10 min of debt: pay it off with one task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08976" y="2743200"/>
            <a:ext cx="2084832" cy="1319514"/>
          </a:xfrm>
          <a:prstGeom prst="roundRect">
            <a:avLst>
              <a:gd name="adj" fmla="val 4000"/>
            </a:avLst>
          </a:prstGeom>
          <a:ln w="12700">
            <a:solidFill>
              <a:srgbClr val="B48AB9"/>
            </a:solidFill>
          </a:ln>
          <a:effectLst>
            <a:outerShdw blurRad="76200" dist="25400" dir="5400000" algn="t" rotWithShape="0">
              <a:srgbClr val="4B0058">
                <a:alpha val="22000"/>
              </a:srgbClr>
            </a:outerShdw>
          </a:effectLst>
        </p:spPr>
      </p:pic>
      <p:sp>
        <p:nvSpPr>
          <p:cNvPr id="252" name="Badge 252"/>
          <p:cNvSpPr/>
          <p:nvPr/>
        </p:nvSpPr>
        <p:spPr>
          <a:xfrm>
            <a:off x="10021824" y="2761488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3</a:t>
            </a:r>
          </a:p>
        </p:txBody>
      </p:sp>
      <p:sp>
        <p:nvSpPr>
          <p:cNvPr id="253" name="Text 253"/>
          <p:cNvSpPr txBox="1"/>
          <p:nvPr/>
        </p:nvSpPr>
        <p:spPr>
          <a:xfrm>
            <a:off x="10021824" y="3127248"/>
            <a:ext cx="11155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Alert</a:t>
            </a:r>
          </a:p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At 10 min of debt: pay it off with one task</a:t>
            </a:r>
          </a:p>
        </p:txBody>
      </p:sp>
      <p:pic>
        <p:nvPicPr>
          <p:cNvPr id="254" name="Screenshot 254" descr="Swap: Life Mixer: mood + time + hobby = one task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05840" y="4364466"/>
            <a:ext cx="2084832" cy="1319514"/>
          </a:xfrm>
          <a:prstGeom prst="roundRect">
            <a:avLst>
              <a:gd name="adj" fmla="val 4000"/>
            </a:avLst>
          </a:prstGeom>
          <a:ln w="12700">
            <a:solidFill>
              <a:srgbClr val="B48AB9"/>
            </a:solidFill>
          </a:ln>
          <a:effectLst>
            <a:outerShdw blurRad="76200" dist="25400" dir="5400000" algn="t" rotWithShape="0">
              <a:srgbClr val="4B0058">
                <a:alpha val="22000"/>
              </a:srgbClr>
            </a:outerShdw>
          </a:effectLst>
        </p:spPr>
      </p:pic>
      <p:sp>
        <p:nvSpPr>
          <p:cNvPr id="255" name="Badge 255"/>
          <p:cNvSpPr/>
          <p:nvPr/>
        </p:nvSpPr>
        <p:spPr>
          <a:xfrm>
            <a:off x="3218688" y="4382754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4</a:t>
            </a:r>
          </a:p>
        </p:txBody>
      </p:sp>
      <p:sp>
        <p:nvSpPr>
          <p:cNvPr id="256" name="Text 256"/>
          <p:cNvSpPr txBox="1"/>
          <p:nvPr/>
        </p:nvSpPr>
        <p:spPr>
          <a:xfrm>
            <a:off x="3218688" y="4748514"/>
            <a:ext cx="11155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Swap</a:t>
            </a:r>
          </a:p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Life Mixer: mood + time + hobby = one task</a:t>
            </a:r>
          </a:p>
        </p:txBody>
      </p:sp>
      <p:pic>
        <p:nvPicPr>
          <p:cNvPr id="257" name="Screenshot 257" descr="Verify: Camera counts your exercise reps on the laptop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407408" y="4364466"/>
            <a:ext cx="2084832" cy="1319514"/>
          </a:xfrm>
          <a:prstGeom prst="roundRect">
            <a:avLst>
              <a:gd name="adj" fmla="val 4000"/>
            </a:avLst>
          </a:prstGeom>
          <a:ln w="12700">
            <a:solidFill>
              <a:srgbClr val="B48AB9"/>
            </a:solidFill>
          </a:ln>
          <a:effectLst>
            <a:outerShdw blurRad="76200" dist="25400" dir="5400000" algn="t" rotWithShape="0">
              <a:srgbClr val="4B0058">
                <a:alpha val="22000"/>
              </a:srgbClr>
            </a:outerShdw>
          </a:effectLst>
        </p:spPr>
      </p:pic>
      <p:sp>
        <p:nvSpPr>
          <p:cNvPr id="258" name="Badge 258"/>
          <p:cNvSpPr/>
          <p:nvPr/>
        </p:nvSpPr>
        <p:spPr>
          <a:xfrm>
            <a:off x="6620256" y="4382754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5</a:t>
            </a:r>
          </a:p>
        </p:txBody>
      </p:sp>
      <p:sp>
        <p:nvSpPr>
          <p:cNvPr id="259" name="Text 259"/>
          <p:cNvSpPr txBox="1"/>
          <p:nvPr/>
        </p:nvSpPr>
        <p:spPr>
          <a:xfrm>
            <a:off x="6620256" y="4748514"/>
            <a:ext cx="11155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Verify</a:t>
            </a:r>
          </a:p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Camera counts your exercise reps on the laptop</a:t>
            </a:r>
          </a:p>
        </p:txBody>
      </p:sp>
      <p:pic>
        <p:nvPicPr>
          <p:cNvPr id="260" name="Screenshot 260" descr="Stop: Hard Stop: feeds locked until tomorrow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08976" y="4364466"/>
            <a:ext cx="2084832" cy="1319514"/>
          </a:xfrm>
          <a:prstGeom prst="roundRect">
            <a:avLst>
              <a:gd name="adj" fmla="val 4000"/>
            </a:avLst>
          </a:prstGeom>
          <a:ln w="12700">
            <a:solidFill>
              <a:srgbClr val="B48AB9"/>
            </a:solidFill>
          </a:ln>
          <a:effectLst>
            <a:outerShdw blurRad="76200" dist="25400" dir="5400000" algn="t" rotWithShape="0">
              <a:srgbClr val="4B0058">
                <a:alpha val="22000"/>
              </a:srgbClr>
            </a:outerShdw>
          </a:effectLst>
        </p:spPr>
      </p:pic>
      <p:sp>
        <p:nvSpPr>
          <p:cNvPr id="261" name="Badge 261"/>
          <p:cNvSpPr/>
          <p:nvPr/>
        </p:nvSpPr>
        <p:spPr>
          <a:xfrm>
            <a:off x="10021824" y="4382754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6</a:t>
            </a:r>
          </a:p>
        </p:txBody>
      </p:sp>
      <p:sp>
        <p:nvSpPr>
          <p:cNvPr id="262" name="Text 262"/>
          <p:cNvSpPr txBox="1"/>
          <p:nvPr/>
        </p:nvSpPr>
        <p:spPr>
          <a:xfrm>
            <a:off x="10021824" y="4748514"/>
            <a:ext cx="11155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Stop</a:t>
            </a:r>
          </a:p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Hard Stop: feeds locked until tomorrow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scribbles, underline and torn pap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5200"/>
              </a:lnSpc>
            </a:pPr>
            <a:r>
              <a:rPr lang="en-US">
                <a:latin typeface="Caveat Brush"/>
              </a:rPr>
              <a:t>Project Screenshots (contd.)</a:t>
            </a: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12800" y="1524000"/>
            <a:ext cx="10566400" cy="838200"/>
          </a:xfrm>
          <a:prstGeom prst="roundRect">
            <a:avLst>
              <a:gd name="adj" fmla="val 21212"/>
            </a:avLst>
          </a:prstGeom>
          <a:solidFill>
            <a:srgbClr val="680078"/>
          </a:solidFill>
          <a:ln/>
        </p:spPr>
        <p:txBody>
          <a:bodyPr wrap="square" lIns="303524" tIns="201924" rIns="7868" bIns="176524" rtlCol="0" anchor="t">
            <a:normAutofit/>
          </a:bodyPr>
          <a:lstStyle/>
          <a:p>
            <a:r>
              <a:rPr lang="en-US" sz="2000">
                <a:solidFill>
                  <a:srgbClr val="FBFADB"/>
                </a:solidFill>
                <a:ea typeface="+mn-lt"/>
                <a:cs typeface="+mn-lt"/>
              </a:rPr>
              <a:t>Working prototype / demo screenshots, main features and key user flow</a:t>
            </a:r>
            <a:endParaRPr lang="en-US"/>
          </a:p>
          <a:p>
            <a:pPr marL="0" indent="0" algn="l">
              <a:lnSpc>
                <a:spcPts val="2600"/>
              </a:lnSpc>
              <a:buNone/>
            </a:pPr>
            <a:endParaRPr lang="en-US" sz="2000" dirty="0">
              <a:solidFill>
                <a:srgbClr val="FBFADB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825500" y="2628900"/>
            <a:ext cx="10541000" cy="3401568"/>
          </a:xfrm>
          <a:prstGeom prst="roundRect">
            <a:avLst>
              <a:gd name="adj" fmla="val 5952"/>
            </a:avLst>
          </a:prstGeom>
          <a:solidFill>
            <a:srgbClr val="FEFDE9"/>
          </a:solidFill>
          <a:ln w="25400">
            <a:solidFill>
              <a:srgbClr val="B48AB9"/>
            </a:solidFill>
            <a:prstDash val="dash"/>
          </a:ln>
        </p:spPr>
      </p:sp>
      <p:sp>
        <p:nvSpPr>
          <p:cNvPr id="7" name="Text 3"/>
          <p:cNvSpPr/>
          <p:nvPr/>
        </p:nvSpPr>
        <p:spPr>
          <a:xfrm>
            <a:off x="812800" y="6253482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68007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IEEE WIE, SSN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1023600" y="6344921"/>
            <a:ext cx="558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240"/>
              </a:lnSpc>
              <a:buNone/>
            </a:pPr>
            <a:r>
              <a:rPr lang="en-US" sz="1600" dirty="0">
                <a:solidFill>
                  <a:srgbClr val="4B0058"/>
                </a:solidFill>
                <a:latin typeface="Caveat Brush" pitchFamily="18" charset="0"/>
                <a:ea typeface="Caveat Brush" pitchFamily="18" charset="-122"/>
                <a:cs typeface="Caveat Brush" pitchFamily="18" charset="-120"/>
              </a:rPr>
              <a:t>6</a:t>
            </a:r>
            <a:endParaRPr lang="en-US" sz="1600" dirty="0"/>
          </a:p>
        </p:txBody>
      </p:sp>
      <p:pic>
        <p:nvPicPr>
          <p:cNvPr id="9" name="Image 2" descr="IEEE Women in Engineering logo"/>
          <p:cNvPicPr>
            <a:picLocks noChangeAspect="1"/>
          </p:cNvPicPr>
          <p:nvPr/>
        </p:nvPicPr>
        <p:blipFill>
          <a:blip r:embed="rId4"/>
          <a:srcRect t="-27" b="-27"/>
          <a:stretch/>
        </p:blipFill>
        <p:spPr>
          <a:xfrm>
            <a:off x="10553700" y="355600"/>
            <a:ext cx="825500" cy="787400"/>
          </a:xfrm>
          <a:prstGeom prst="rect">
            <a:avLst/>
          </a:prstGeom>
        </p:spPr>
      </p:pic>
      <p:pic>
        <p:nvPicPr>
          <p:cNvPr id="263" name="Screenshot 263" descr="Feed-aware: Lectures untouched; Shorts counted, daily limit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5840" y="2743200"/>
            <a:ext cx="2084832" cy="1319514"/>
          </a:xfrm>
          <a:prstGeom prst="roundRect">
            <a:avLst>
              <a:gd name="adj" fmla="val 4000"/>
            </a:avLst>
          </a:prstGeom>
          <a:ln w="12700">
            <a:solidFill>
              <a:srgbClr val="B48AB9"/>
            </a:solidFill>
          </a:ln>
          <a:effectLst>
            <a:outerShdw blurRad="76200" dist="25400" dir="5400000" algn="t" rotWithShape="0">
              <a:srgbClr val="4B0058">
                <a:alpha val="22000"/>
              </a:srgbClr>
            </a:outerShdw>
          </a:effectLst>
        </p:spPr>
      </p:pic>
      <p:sp>
        <p:nvSpPr>
          <p:cNvPr id="264" name="Badge 264"/>
          <p:cNvSpPr/>
          <p:nvPr/>
        </p:nvSpPr>
        <p:spPr>
          <a:xfrm>
            <a:off x="3218688" y="2761488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1</a:t>
            </a:r>
          </a:p>
        </p:txBody>
      </p:sp>
      <p:sp>
        <p:nvSpPr>
          <p:cNvPr id="265" name="Text 265"/>
          <p:cNvSpPr txBox="1"/>
          <p:nvPr/>
        </p:nvSpPr>
        <p:spPr>
          <a:xfrm>
            <a:off x="3218688" y="3127248"/>
            <a:ext cx="11155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Feed-aware</a:t>
            </a:r>
          </a:p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Lectures untouched; Shorts counted, daily limit</a:t>
            </a:r>
          </a:p>
        </p:txBody>
      </p:sp>
      <p:pic>
        <p:nvPicPr>
          <p:cNvPr id="266" name="Screenshot 266" descr="Budgets: Daily minute budget for each sit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07408" y="2743200"/>
            <a:ext cx="2084832" cy="1319514"/>
          </a:xfrm>
          <a:prstGeom prst="roundRect">
            <a:avLst>
              <a:gd name="adj" fmla="val 4000"/>
            </a:avLst>
          </a:prstGeom>
          <a:ln w="12700">
            <a:solidFill>
              <a:srgbClr val="B48AB9"/>
            </a:solidFill>
          </a:ln>
          <a:effectLst>
            <a:outerShdw blurRad="76200" dist="25400" dir="5400000" algn="t" rotWithShape="0">
              <a:srgbClr val="4B0058">
                <a:alpha val="22000"/>
              </a:srgbClr>
            </a:outerShdw>
          </a:effectLst>
        </p:spPr>
      </p:pic>
      <p:sp>
        <p:nvSpPr>
          <p:cNvPr id="267" name="Badge 267"/>
          <p:cNvSpPr/>
          <p:nvPr/>
        </p:nvSpPr>
        <p:spPr>
          <a:xfrm>
            <a:off x="6620256" y="2761488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2</a:t>
            </a:r>
          </a:p>
        </p:txBody>
      </p:sp>
      <p:sp>
        <p:nvSpPr>
          <p:cNvPr id="268" name="Text 268"/>
          <p:cNvSpPr txBox="1"/>
          <p:nvPr/>
        </p:nvSpPr>
        <p:spPr>
          <a:xfrm>
            <a:off x="6620256" y="3127248"/>
            <a:ext cx="11155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Budgets</a:t>
            </a:r>
          </a:p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Daily minute budget for each site</a:t>
            </a:r>
          </a:p>
        </p:txBody>
      </p:sp>
      <p:pic>
        <p:nvPicPr>
          <p:cNvPr id="269" name="Screenshot 269" descr="Honest timer: Pauses while a feed tab is open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08976" y="2743200"/>
            <a:ext cx="2084832" cy="1319514"/>
          </a:xfrm>
          <a:prstGeom prst="roundRect">
            <a:avLst>
              <a:gd name="adj" fmla="val 4000"/>
            </a:avLst>
          </a:prstGeom>
          <a:ln w="12700">
            <a:solidFill>
              <a:srgbClr val="B48AB9"/>
            </a:solidFill>
          </a:ln>
          <a:effectLst>
            <a:outerShdw blurRad="76200" dist="25400" dir="5400000" algn="t" rotWithShape="0">
              <a:srgbClr val="4B0058">
                <a:alpha val="22000"/>
              </a:srgbClr>
            </a:outerShdw>
          </a:effectLst>
        </p:spPr>
      </p:pic>
      <p:sp>
        <p:nvSpPr>
          <p:cNvPr id="270" name="Badge 270"/>
          <p:cNvSpPr/>
          <p:nvPr/>
        </p:nvSpPr>
        <p:spPr>
          <a:xfrm>
            <a:off x="10021824" y="2761488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3</a:t>
            </a:r>
          </a:p>
        </p:txBody>
      </p:sp>
      <p:sp>
        <p:nvSpPr>
          <p:cNvPr id="271" name="Text 271"/>
          <p:cNvSpPr txBox="1"/>
          <p:nvPr/>
        </p:nvSpPr>
        <p:spPr>
          <a:xfrm>
            <a:off x="10021824" y="3127248"/>
            <a:ext cx="11155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Honest timer</a:t>
            </a:r>
          </a:p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Pauses while a feed tab is open</a:t>
            </a:r>
          </a:p>
        </p:txBody>
      </p:sp>
      <p:pic>
        <p:nvPicPr>
          <p:cNvPr id="272" name="Screenshot 272" descr="Insights: 7 days of scroll time, debt paid, tasks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5840" y="4364466"/>
            <a:ext cx="2084832" cy="1319514"/>
          </a:xfrm>
          <a:prstGeom prst="roundRect">
            <a:avLst>
              <a:gd name="adj" fmla="val 4000"/>
            </a:avLst>
          </a:prstGeom>
          <a:ln w="12700">
            <a:solidFill>
              <a:srgbClr val="B48AB9"/>
            </a:solidFill>
          </a:ln>
          <a:effectLst>
            <a:outerShdw blurRad="76200" dist="25400" dir="5400000" algn="t" rotWithShape="0">
              <a:srgbClr val="4B0058">
                <a:alpha val="22000"/>
              </a:srgbClr>
            </a:outerShdw>
          </a:effectLst>
        </p:spPr>
      </p:pic>
      <p:sp>
        <p:nvSpPr>
          <p:cNvPr id="273" name="Badge 273"/>
          <p:cNvSpPr/>
          <p:nvPr/>
        </p:nvSpPr>
        <p:spPr>
          <a:xfrm>
            <a:off x="3218688" y="4382754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4</a:t>
            </a:r>
          </a:p>
        </p:txBody>
      </p:sp>
      <p:sp>
        <p:nvSpPr>
          <p:cNvPr id="274" name="Text 274"/>
          <p:cNvSpPr txBox="1"/>
          <p:nvPr/>
        </p:nvSpPr>
        <p:spPr>
          <a:xfrm>
            <a:off x="3218688" y="4748514"/>
            <a:ext cx="11155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Insights</a:t>
            </a:r>
          </a:p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7 days of scroll time, debt paid, tasks</a:t>
            </a:r>
          </a:p>
        </p:txBody>
      </p:sp>
      <p:pic>
        <p:nvPicPr>
          <p:cNvPr id="275" name="Screenshot 275" descr="Settings lock: In debt? Type a phrase, then wait half a minute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407408" y="4364466"/>
            <a:ext cx="2084832" cy="1319514"/>
          </a:xfrm>
          <a:prstGeom prst="roundRect">
            <a:avLst>
              <a:gd name="adj" fmla="val 4000"/>
            </a:avLst>
          </a:prstGeom>
          <a:ln w="12700">
            <a:solidFill>
              <a:srgbClr val="B48AB9"/>
            </a:solidFill>
          </a:ln>
          <a:effectLst>
            <a:outerShdw blurRad="76200" dist="25400" dir="5400000" algn="t" rotWithShape="0">
              <a:srgbClr val="4B0058">
                <a:alpha val="22000"/>
              </a:srgbClr>
            </a:outerShdw>
          </a:effectLst>
        </p:spPr>
      </p:pic>
      <p:sp>
        <p:nvSpPr>
          <p:cNvPr id="276" name="Badge 276"/>
          <p:cNvSpPr/>
          <p:nvPr/>
        </p:nvSpPr>
        <p:spPr>
          <a:xfrm>
            <a:off x="6620256" y="4382754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5</a:t>
            </a:r>
          </a:p>
        </p:txBody>
      </p:sp>
      <p:sp>
        <p:nvSpPr>
          <p:cNvPr id="277" name="Text 277"/>
          <p:cNvSpPr txBox="1"/>
          <p:nvPr/>
        </p:nvSpPr>
        <p:spPr>
          <a:xfrm>
            <a:off x="6620256" y="4748514"/>
            <a:ext cx="11155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Settings lock</a:t>
            </a:r>
          </a:p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In debt? Type a phrase, then wait half a minute</a:t>
            </a:r>
          </a:p>
        </p:txBody>
      </p:sp>
      <p:pic>
        <p:nvPicPr>
          <p:cNvPr id="278" name="Screenshot 278" descr="Grow: Plant grows; Campfire friends; Focus Mirror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808976" y="4364466"/>
            <a:ext cx="2084832" cy="1319514"/>
          </a:xfrm>
          <a:prstGeom prst="roundRect">
            <a:avLst>
              <a:gd name="adj" fmla="val 4000"/>
            </a:avLst>
          </a:prstGeom>
          <a:ln w="12700">
            <a:solidFill>
              <a:srgbClr val="B48AB9"/>
            </a:solidFill>
          </a:ln>
          <a:effectLst>
            <a:outerShdw blurRad="76200" dist="25400" dir="5400000" algn="t" rotWithShape="0">
              <a:srgbClr val="4B0058">
                <a:alpha val="22000"/>
              </a:srgbClr>
            </a:outerShdw>
          </a:effectLst>
        </p:spPr>
      </p:pic>
      <p:sp>
        <p:nvSpPr>
          <p:cNvPr id="279" name="Badge 279"/>
          <p:cNvSpPr/>
          <p:nvPr/>
        </p:nvSpPr>
        <p:spPr>
          <a:xfrm>
            <a:off x="10021824" y="4382754"/>
            <a:ext cx="310896" cy="310896"/>
          </a:xfrm>
          <a:prstGeom prst="ellipse">
            <a:avLst/>
          </a:prstGeom>
          <a:solidFill>
            <a:srgbClr val="6800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</a:pPr>
            <a:r>
              <a:rPr lang="en-US" sz="1400" dirty="0">
                <a:solidFill>
                  <a:srgbClr val="FBFADB"/>
                </a:solidFill>
                <a:latin typeface="Caveat Brush"/>
                <a:ea typeface="Caveat Brush"/>
                <a:cs typeface="Caveat Brush"/>
              </a:rPr>
              <a:t>6</a:t>
            </a:r>
          </a:p>
        </p:txBody>
      </p:sp>
      <p:sp>
        <p:nvSpPr>
          <p:cNvPr id="280" name="Text 280"/>
          <p:cNvSpPr txBox="1"/>
          <p:nvPr/>
        </p:nvSpPr>
        <p:spPr>
          <a:xfrm>
            <a:off x="10021824" y="4748514"/>
            <a:ext cx="11155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Grow</a:t>
            </a:r>
          </a:p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Plant grows; Campfire friends; Focus Mirror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scribbles, underline and torn pap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5200"/>
              </a:lnSpc>
            </a:pPr>
            <a:r>
              <a:rPr lang="en-US">
                <a:latin typeface="Caveat Brush"/>
              </a:rPr>
              <a:t>Us vs Existing Extensions</a:t>
            </a: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12800" y="1524000"/>
            <a:ext cx="10566400" cy="838200"/>
          </a:xfrm>
          <a:prstGeom prst="roundRect">
            <a:avLst>
              <a:gd name="adj" fmla="val 21212"/>
            </a:avLst>
          </a:prstGeom>
          <a:solidFill>
            <a:srgbClr val="680078"/>
          </a:solidFill>
          <a:ln/>
        </p:spPr>
        <p:txBody>
          <a:bodyPr wrap="square" lIns="303524" tIns="201924" rIns="7868" bIns="176524" rtlCol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000">
                <a:solidFill>
                  <a:srgbClr val="FBFADB"/>
                </a:solidFill>
                <a:ea typeface="+mn-lt"/>
                <a:cs typeface="+mn-lt"/>
              </a:rPr>
              <a:t>How we differ from the anti-doomscroll extensions already on the Chrome Web Store, and the trade-offs</a:t>
            </a:r>
            <a:endParaRPr lang="en-US" sz="2000"/>
          </a:p>
          <a:p>
            <a:pPr algn="l"/>
            <a:endParaRPr lang="en-US" sz="2000" dirty="0">
              <a:solidFill>
                <a:srgbClr val="FBFADB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825500" y="2628900"/>
            <a:ext cx="10541000" cy="3401568"/>
          </a:xfrm>
          <a:prstGeom prst="roundRect">
            <a:avLst>
              <a:gd name="adj" fmla="val 5952"/>
            </a:avLst>
          </a:prstGeom>
          <a:solidFill>
            <a:srgbClr val="FEFDE9"/>
          </a:solidFill>
          <a:ln w="25400">
            <a:solidFill>
              <a:srgbClr val="B48AB9"/>
            </a:solidFill>
            <a:prstDash val="dash"/>
          </a:ln>
        </p:spPr>
      </p:sp>
      <p:sp>
        <p:nvSpPr>
          <p:cNvPr id="7" name="Text 3"/>
          <p:cNvSpPr/>
          <p:nvPr/>
        </p:nvSpPr>
        <p:spPr>
          <a:xfrm>
            <a:off x="812800" y="6253482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68007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IEEE WIE, SSN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1023600" y="6344921"/>
            <a:ext cx="558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240"/>
              </a:lnSpc>
              <a:buNone/>
            </a:pPr>
            <a:r>
              <a:rPr lang="en-US" sz="1600" dirty="0">
                <a:solidFill>
                  <a:srgbClr val="4B0058"/>
                </a:solidFill>
                <a:latin typeface="Caveat Brush" pitchFamily="18" charset="0"/>
                <a:ea typeface="Caveat Brush" pitchFamily="18" charset="-122"/>
                <a:cs typeface="Caveat Brush" pitchFamily="18" charset="-120"/>
              </a:rPr>
              <a:t>7</a:t>
            </a:r>
            <a:endParaRPr lang="en-US" sz="1600" dirty="0"/>
          </a:p>
        </p:txBody>
      </p:sp>
      <p:pic>
        <p:nvPicPr>
          <p:cNvPr id="9" name="Image 2" descr="IEEE Women in Engineering logo"/>
          <p:cNvPicPr>
            <a:picLocks noChangeAspect="1"/>
          </p:cNvPicPr>
          <p:nvPr/>
        </p:nvPicPr>
        <p:blipFill>
          <a:blip r:embed="rId4"/>
          <a:srcRect t="-27" b="-27"/>
          <a:stretch/>
        </p:blipFill>
        <p:spPr>
          <a:xfrm>
            <a:off x="10553700" y="355600"/>
            <a:ext cx="825500" cy="787400"/>
          </a:xfrm>
          <a:prstGeom prst="rect">
            <a:avLst/>
          </a:prstGeom>
        </p:spPr>
      </p:pic>
      <p:graphicFrame>
        <p:nvGraphicFramePr>
          <p:cNvPr id="281" name="Comparison table"/>
          <p:cNvGraphicFramePr>
            <a:graphicFrameLocks noGrp="1"/>
          </p:cNvGraphicFramePr>
          <p:nvPr/>
        </p:nvGraphicFramePr>
        <p:xfrm>
          <a:off x="1005840" y="2724912"/>
          <a:ext cx="10149840" cy="1975104"/>
        </p:xfrm>
        <a:graphic>
          <a:graphicData uri="http://schemas.openxmlformats.org/drawingml/2006/table">
            <a:tbl>
              <a:tblPr firstRow="1"/>
              <a:tblGrid>
                <a:gridCol w="1783080"/>
                <a:gridCol w="2011680"/>
                <a:gridCol w="2011680"/>
                <a:gridCol w="2011680"/>
                <a:gridCol w="2331720"/>
              </a:tblGrid>
              <a:tr h="329184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BFADB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68007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BFADB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Doomscroll Blocker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68007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BFADB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Doomscroll Fog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68007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BFADB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Doomscroll protection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68007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BFADB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Terrarium (ours)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68007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680078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How it works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3EA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A3F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Fade + reminder after set scrolling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A3F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Blur builds after set time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A3F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Only the first Short plays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F6B3B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Pause, Focus Debt, task, Hard Stop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EAF3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680078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Lectures safe?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3EA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A3F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Whole-site blocklist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A3F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Per-site on / off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A3F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YouTube Shorts only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F6B3B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✔ Feed pages only + budgets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EAF3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680078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Something to do instead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3EA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A3F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A3F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A3F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F6B3B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✔ 15-min task or exercise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EAF3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680078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Hard to bypass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3EA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A3F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A3F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Snooze button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A3F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F6B3B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✔ Hard Stop + settings lock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EAF3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680078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Stats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3EA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A3F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A3F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Daily scroll totals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2A3F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9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F6B3B"/>
                          </a:solidFill>
                          <a:latin typeface="Patrick Hand"/>
                          <a:ea typeface="Patrick Hand"/>
                          <a:cs typeface="Patrick Hand"/>
                        </a:rPr>
                        <a:t>✔ Popup + 7-day Insights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D2B8CC"/>
                      </a:solidFill>
                    </a:lnL>
                    <a:lnR w="6350">
                      <a:solidFill>
                        <a:srgbClr val="D2B8CC"/>
                      </a:solidFill>
                    </a:lnR>
                    <a:lnT w="6350">
                      <a:solidFill>
                        <a:srgbClr val="D2B8CC"/>
                      </a:solidFill>
                    </a:lnT>
                    <a:lnB w="6350">
                      <a:solidFill>
                        <a:srgbClr val="D2B8CC"/>
                      </a:solidFill>
                    </a:lnB>
                    <a:solidFill>
                      <a:srgbClr val="EAF3EA"/>
                    </a:solidFill>
                  </a:tcPr>
                </a:tc>
              </a:tr>
            </a:tbl>
          </a:graphicData>
        </a:graphic>
      </p:graphicFrame>
      <p:sp>
        <p:nvSpPr>
          <p:cNvPr id="282" name="Text 282"/>
          <p:cNvSpPr txBox="1"/>
          <p:nvPr/>
        </p:nvSpPr>
        <p:spPr>
          <a:xfrm>
            <a:off x="1005840" y="4992624"/>
            <a:ext cx="16002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1900" b="1" dirty="0">
                <a:solidFill>
                  <a:srgbClr val="680078"/>
                </a:solidFill>
                <a:latin typeface="Patrick Hand"/>
                <a:ea typeface="Patrick Hand"/>
                <a:cs typeface="Patrick Hand"/>
              </a:rPr>
              <a:t>Trade-offs</a:t>
            </a:r>
          </a:p>
          <a:p>
            <a:pPr algn="l" marL="0" indent="0">
              <a:buNone/>
            </a:pPr>
            <a:r>
              <a:rPr lang="en-US" sz="150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we chose</a:t>
            </a:r>
          </a:p>
        </p:txBody>
      </p:sp>
      <p:sp>
        <p:nvSpPr>
          <p:cNvPr id="283" name="Tradeoff 283"/>
          <p:cNvSpPr/>
          <p:nvPr/>
        </p:nvSpPr>
        <p:spPr>
          <a:xfrm>
            <a:off x="2578608" y="5029200"/>
            <a:ext cx="207568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2B8CC"/>
            </a:solidFill>
          </a:ln>
        </p:spPr>
        <p:txBody>
          <a:bodyPr wrap="square" lIns="91440" tIns="36576" rIns="73152" bIns="36576" rtlCol="0" anchor="ctr">
            <a:noAutofit/>
          </a:bodyPr>
          <a:lstStyle/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Bigger download (~23 MB): the AI runs on your laptop, not a server</a:t>
            </a:r>
          </a:p>
        </p:txBody>
      </p:sp>
      <p:sp>
        <p:nvSpPr>
          <p:cNvPr id="284" name="Tradeoff 284"/>
          <p:cNvSpPr/>
          <p:nvPr/>
        </p:nvSpPr>
        <p:spPr>
          <a:xfrm>
            <a:off x="4745736" y="5029200"/>
            <a:ext cx="207568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2B8CC"/>
            </a:solidFill>
          </a:ln>
        </p:spPr>
        <p:txBody>
          <a:bodyPr wrap="square" lIns="91440" tIns="36576" rIns="73152" bIns="36576" rtlCol="0" anchor="ctr">
            <a:noAutofit/>
          </a:bodyPr>
          <a:lstStyle/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Only exercise is camera-checked; other tasks trust your honesty</a:t>
            </a:r>
          </a:p>
        </p:txBody>
      </p:sp>
      <p:sp>
        <p:nvSpPr>
          <p:cNvPr id="285" name="Tradeoff 285"/>
          <p:cNvSpPr/>
          <p:nvPr/>
        </p:nvSpPr>
        <p:spPr>
          <a:xfrm>
            <a:off x="6912864" y="5029200"/>
            <a:ext cx="207568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2B8CC"/>
            </a:solidFill>
          </a:ln>
        </p:spPr>
        <p:txBody>
          <a:bodyPr wrap="square" lIns="91440" tIns="36576" rIns="73152" bIns="36576" rtlCol="0" anchor="ctr">
            <a:noAutofit/>
          </a:bodyPr>
          <a:lstStyle/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Chrome desktop only for now; phone apps are future scope</a:t>
            </a:r>
          </a:p>
        </p:txBody>
      </p:sp>
      <p:sp>
        <p:nvSpPr>
          <p:cNvPr id="286" name="Tradeoff 286"/>
          <p:cNvSpPr/>
          <p:nvPr/>
        </p:nvSpPr>
        <p:spPr>
          <a:xfrm>
            <a:off x="9079992" y="5029200"/>
            <a:ext cx="207568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2B8CC"/>
            </a:solidFill>
          </a:ln>
        </p:spPr>
        <p:txBody>
          <a:bodyPr wrap="square" lIns="91440" tIns="36576" rIns="73152" bIns="36576" rtlCol="0" anchor="ctr">
            <a:noAutofit/>
          </a:bodyPr>
          <a:lstStyle/>
          <a:p>
            <a:pPr algn="l" marL="0" indent="0">
              <a:lnSpc>
                <a:spcPct val="92000"/>
              </a:lnSpc>
              <a:buNone/>
            </a:pPr>
            <a:r>
              <a:rPr lang="en-US" sz="1250" dirty="0">
                <a:solidFill>
                  <a:srgbClr val="3A2A3F"/>
                </a:solidFill>
                <a:latin typeface="Patrick Hand"/>
                <a:ea typeface="Patrick Hand"/>
                <a:cs typeface="Patrick Hand"/>
              </a:rPr>
              <a:t>Stricter than a blocker on purpose; Settings tune every rule</a:t>
            </a:r>
          </a:p>
        </p:txBody>
      </p:sp>
      <p:sp>
        <p:nvSpPr>
          <p:cNvPr id="287" name="Text 287"/>
          <p:cNvSpPr txBox="1"/>
          <p:nvPr/>
        </p:nvSpPr>
        <p:spPr>
          <a:xfrm>
            <a:off x="1005840" y="5769864"/>
            <a:ext cx="10058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buNone/>
            </a:pPr>
            <a:r>
              <a:rPr lang="en-US" sz="1050" i="1" dirty="0">
                <a:solidFill>
                  <a:srgbClr val="7A6A80"/>
                </a:solidFill>
                <a:latin typeface="Patrick Hand"/>
                <a:ea typeface="Patrick Hand"/>
                <a:cs typeface="Patrick Hand"/>
              </a:rPr>
              <a:t>Competitor details are from their Chrome Web Store listings (Oct 2026), not hands-on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kathon 2026 - Round 1 Template">
  <a:themeElements>
    <a:clrScheme name="Ickathon 2026 - Round 1 Template">
      <a:dk1>
        <a:srgbClr val="141413"/>
      </a:dk1>
      <a:lt1>
        <a:srgbClr val="FBFADB"/>
      </a:lt1>
      <a:dk2>
        <a:srgbClr val="4E4E45"/>
      </a:dk2>
      <a:lt2>
        <a:srgbClr val="E4E3C7"/>
      </a:lt2>
      <a:accent1>
        <a:srgbClr val="680078"/>
      </a:accent1>
      <a:accent2>
        <a:srgbClr val="4B0058"/>
      </a:accent2>
      <a:accent3>
        <a:srgbClr val="D2B8CC"/>
      </a:accent3>
      <a:accent4>
        <a:srgbClr val="9AA0A6"/>
      </a:accent4>
      <a:accent5>
        <a:srgbClr val="707063"/>
      </a:accent5>
      <a:accent6>
        <a:srgbClr val="939381"/>
      </a:accent6>
      <a:hlink>
        <a:srgbClr val="0563C1"/>
      </a:hlink>
      <a:folHlink>
        <a:srgbClr val="954F72"/>
      </a:folHlink>
    </a:clrScheme>
    <a:fontScheme name="Ickathon 2026 - Round 1 Template">
      <a:majorFont>
        <a:latin typeface="Caveat Brush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atrick Ha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Ickathon 2026 - Round 1 Template</vt:lpstr>
      <vt:lpstr>Ick-a-thon 2026</vt:lpstr>
      <vt:lpstr>The Assigned Ick (Problem Statement)</vt:lpstr>
      <vt:lpstr>Our Take on the Ick</vt:lpstr>
      <vt:lpstr>Technical Implementation</vt:lpstr>
      <vt:lpstr>Project Screenshots</vt:lpstr>
      <vt:lpstr>IMPORTANT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Ickathon 2026 - Round 1 Template</dc:title>
  <dc:subject/>
  <dc:creator/>
  <cp:lastModifiedBy>DHESH SARVAJITH</cp:lastModifiedBy>
  <cp:revision>122</cp:revision>
  <dcterms:created xsi:type="dcterms:W3CDTF">2026-10-02T09:25:14Z</dcterms:created>
  <dcterms:modified xsi:type="dcterms:W3CDTF">2026-10-09T04:24:34Z</dcterms:modified>
</cp:coreProperties>
</file>